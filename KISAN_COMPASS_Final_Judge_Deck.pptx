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D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83637" y="347472"/>
            <a:ext cx="3276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475569"/>
                </a:solidFill>
                <a:latin typeface="Segoe UI"/>
              </a:defRPr>
            </a:pPr>
            <a:r>
              <a:rPr dirty="0"/>
              <a:t>Theme: </a:t>
            </a:r>
            <a:r>
              <a:rPr dirty="0" err="1"/>
              <a:t>AgriTech</a:t>
            </a:r>
            <a:r>
              <a:rPr dirty="0"/>
              <a:t> / AI Farm Decision &amp; Market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64008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D4ED8"/>
                </a:solidFill>
                <a:latin typeface="Segoe UI"/>
              </a:defRPr>
            </a:pPr>
            <a:r>
              <a:rPr dirty="0"/>
              <a:t>FARM DECISION INTELLIGENCE SYSTEM</a:t>
            </a:r>
          </a:p>
          <a:p>
            <a:pPr>
              <a:spcAft>
                <a:spcPts val="200"/>
              </a:spcAft>
              <a:defRPr sz="4400" b="1">
                <a:solidFill>
                  <a:srgbClr val="0D3B26"/>
                </a:solidFill>
                <a:latin typeface="Segoe UI"/>
              </a:defRPr>
            </a:pPr>
            <a:r>
              <a:rPr dirty="0"/>
              <a:t>KISAN COMPASS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rPr dirty="0"/>
              <a:t>Farm Decision Intelligence</a:t>
            </a:r>
          </a:p>
          <a:p>
            <a:pPr>
              <a:defRPr sz="1350" i="1">
                <a:solidFill>
                  <a:srgbClr val="475569"/>
                </a:solidFill>
                <a:latin typeface="Segoe UI"/>
              </a:defRPr>
            </a:pPr>
            <a:r>
              <a:rPr dirty="0"/>
              <a:t>“Turning fragmented farm data into decisions a farmer can actually understand.”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6217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228600" rtlCol="0" anchor="ctr"/>
          <a:lstStyle/>
          <a:p>
            <a:pPr algn="ctr">
              <a:spcAft>
                <a:spcPts val="300"/>
              </a:spcAft>
              <a:defRPr sz="950" b="1">
                <a:solidFill>
                  <a:srgbClr val="0F172A"/>
                </a:solidFill>
                <a:latin typeface="Segoe UI"/>
              </a:defRPr>
            </a:pPr>
            <a:r>
              <a:rPr sz="1100" dirty="0"/>
              <a:t>PROBLEM AREA: AI Farm Decision &amp; Market Intelligence Agent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rPr sz="1100" dirty="0"/>
              <a:t>TEAM: </a:t>
            </a:r>
            <a:r>
              <a:rPr lang="en-US" sz="1100" dirty="0"/>
              <a:t>FUSIONX4</a:t>
            </a:r>
            <a:r>
              <a:rPr sz="1100" dirty="0"/>
              <a:t> |  LEAD: Darshil Nigam</a:t>
            </a:r>
            <a:r>
              <a:rPr lang="en-US" sz="1100" dirty="0"/>
              <a:t> | Member 1 – Devanshu Gupta | Member 2 – </a:t>
            </a:r>
            <a:r>
              <a:rPr lang="en-US" sz="1100" dirty="0" err="1"/>
              <a:t>Rtivika</a:t>
            </a:r>
            <a:r>
              <a:rPr lang="en-US" sz="1100" dirty="0"/>
              <a:t> Srivastava | Member 3 – Manvi Tripathi</a:t>
            </a:r>
            <a:endParaRPr sz="1100" dirty="0"/>
          </a:p>
        </p:txBody>
      </p:sp>
      <p:sp>
        <p:nvSpPr>
          <p:cNvPr id="9" name="Rounded Rectangle 8"/>
          <p:cNvSpPr/>
          <p:nvPr/>
        </p:nvSpPr>
        <p:spPr>
          <a:xfrm>
            <a:off x="7315200" y="1325880"/>
            <a:ext cx="4144975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1325880"/>
            <a:ext cx="4144975" cy="685800"/>
          </a:xfrm>
          <a:prstGeom prst="rect">
            <a:avLst/>
          </a:prstGeom>
          <a:solidFill>
            <a:srgbClr val="F1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ctr"/>
          <a:lstStyle/>
          <a:p>
            <a:pPr algn="ctr">
              <a:defRPr sz="900" b="1">
                <a:solidFill>
                  <a:srgbClr val="107A44"/>
                </a:solidFill>
                <a:latin typeface="Segoe UI"/>
              </a:defRPr>
            </a:pPr>
            <a:r>
              <a:t>SYSTEM TOPOLOGY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Integrated Farm Intelligence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148840"/>
            <a:ext cx="3687775" cy="566928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900" b="1">
                <a:solidFill>
                  <a:srgbClr val="1D4ED8"/>
                </a:solidFill>
                <a:latin typeface="Segoe UI"/>
              </a:defRPr>
            </a:pPr>
            <a:r>
              <a:t>WEATHER ENSEMBLE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Open-Meteo 7-Day Numerical Forecast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807208"/>
            <a:ext cx="3687775" cy="566928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MARKET BENCHMARKS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AGMARKNET Daily Modal Yard Prices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465576"/>
            <a:ext cx="3687775" cy="566928"/>
          </a:xfrm>
          <a:prstGeom prst="roundRect">
            <a:avLst/>
          </a:prstGeom>
          <a:solidFill>
            <a:srgbClr val="F1F8F3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900" b="1">
                <a:solidFill>
                  <a:srgbClr val="107A44"/>
                </a:solidFill>
                <a:latin typeface="Segoe UI"/>
              </a:defRPr>
            </a:pPr>
            <a:r>
              <a:t>SOIL &amp; AGRONOMY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ICAR Benchmark Loam • 1,845 GDD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123944"/>
            <a:ext cx="3687775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ctr"/>
          <a:lstStyle/>
          <a:p>
            <a:pPr algn="ct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RURAL LOGISTICS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Haversine Distance + 1.25x Detour Factor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892040"/>
            <a:ext cx="3687775" cy="1234440"/>
          </a:xfrm>
          <a:prstGeom prst="roundRect">
            <a:avLst/>
          </a:prstGeom>
          <a:solidFill>
            <a:srgbClr val="F1F8F3"/>
          </a:solidFill>
          <a:ln w="19050">
            <a:solidFill>
              <a:srgbClr val="10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900" b="1">
                <a:solidFill>
                  <a:srgbClr val="0D3B26"/>
                </a:solidFill>
                <a:latin typeface="Segoe UI"/>
              </a:defRPr>
            </a:pPr>
            <a:r>
              <a:t>OUTPUT: GROUNDED ACTIONABLE INTELLIGENCE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• Dynamic What-If Simulation &amp; Downside Risk</a:t>
            </a:r>
            <a:br/>
            <a:r>
              <a:t>• Traceable Net Realization (After Dedicated Freight)</a:t>
            </a:r>
            <a:br/>
            <a:r>
              <a:t>• Absolute Human Veto Preserved</a:t>
            </a:r>
            <a:br/>
            <a:r>
              <a:t>• Provenance Chain with Zero Fake Claims</a:t>
            </a: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6224E07F-C9D5-36EC-E315-95A995E22071}"/>
              </a:ext>
            </a:extLst>
          </p:cNvPr>
          <p:cNvSpPr/>
          <p:nvPr/>
        </p:nvSpPr>
        <p:spPr>
          <a:xfrm>
            <a:off x="731520" y="3970019"/>
            <a:ext cx="6217920" cy="1188720"/>
          </a:xfrm>
          <a:prstGeom prst="roundRect">
            <a:avLst/>
          </a:prstGeom>
          <a:solidFill>
            <a:srgbClr val="0D3B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Ins="274320" rtlCol="0" anchor="ctr"/>
          <a:lstStyle/>
          <a:p>
            <a:pPr algn="ctr">
              <a:spcAft>
                <a:spcPts val="300"/>
              </a:spcAft>
              <a:defRPr sz="950" b="1">
                <a:solidFill>
                  <a:srgbClr val="D97706"/>
                </a:solidFill>
                <a:latin typeface="Segoe UI"/>
              </a:defRPr>
            </a:pPr>
            <a:r>
              <a:rPr dirty="0"/>
              <a:t>CORE ARCHITECTURAL PHILOSOPHY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“</a:t>
            </a:r>
            <a:r>
              <a:rPr lang="en-IN" sz="1600" b="1" dirty="0" err="1">
                <a:solidFill>
                  <a:srgbClr val="FFFFFF"/>
                </a:solidFill>
                <a:latin typeface="Segoe UI"/>
              </a:rPr>
              <a:t>फैसला</a:t>
            </a:r>
            <a:r>
              <a:rPr lang="en-IN" sz="16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IN" sz="1600" b="1" dirty="0" err="1">
                <a:solidFill>
                  <a:srgbClr val="FFFFFF"/>
                </a:solidFill>
                <a:latin typeface="Segoe UI"/>
              </a:rPr>
              <a:t>किसान</a:t>
            </a:r>
            <a:r>
              <a:rPr lang="en-IN" sz="16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IN" sz="1600" b="1" dirty="0" err="1">
                <a:solidFill>
                  <a:srgbClr val="FFFFFF"/>
                </a:solidFill>
                <a:latin typeface="Segoe UI"/>
              </a:rPr>
              <a:t>का</a:t>
            </a:r>
            <a:r>
              <a:rPr lang="en-IN" sz="1600" b="1" dirty="0">
                <a:solidFill>
                  <a:srgbClr val="FFFFFF"/>
                </a:solidFill>
                <a:latin typeface="Segoe UI"/>
              </a:rPr>
              <a:t>।</a:t>
            </a:r>
            <a:br>
              <a:rPr lang="en-IN" sz="1600" b="1" dirty="0">
                <a:solidFill>
                  <a:srgbClr val="FFFFFF"/>
                </a:solidFill>
                <a:latin typeface="Segoe UI"/>
              </a:rPr>
            </a:br>
            <a:r>
              <a:rPr lang="en-IN" sz="1600" b="1" dirty="0" err="1">
                <a:solidFill>
                  <a:srgbClr val="FFFFFF"/>
                </a:solidFill>
                <a:latin typeface="Segoe UI"/>
              </a:rPr>
              <a:t>समझ</a:t>
            </a:r>
            <a:r>
              <a:rPr lang="en-IN" sz="1600" b="1" dirty="0">
                <a:solidFill>
                  <a:srgbClr val="FFFFFF"/>
                </a:solidFill>
                <a:latin typeface="Segoe UI"/>
              </a:rPr>
              <a:t> KISAN COMPASS </a:t>
            </a:r>
            <a:r>
              <a:rPr lang="en-IN" sz="1600" b="1" dirty="0" err="1">
                <a:solidFill>
                  <a:srgbClr val="FFFFFF"/>
                </a:solidFill>
                <a:latin typeface="Segoe UI"/>
              </a:rPr>
              <a:t>की</a:t>
            </a:r>
            <a:r>
              <a:rPr lang="en-IN" sz="1600" b="1" dirty="0">
                <a:solidFill>
                  <a:srgbClr val="FFFFFF"/>
                </a:solidFill>
                <a:latin typeface="Segoe UI"/>
              </a:rPr>
              <a:t>।</a:t>
            </a:r>
            <a:r>
              <a:rPr sz="1600" dirty="0"/>
              <a:t>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CF14B8-BFEE-6B2F-E264-52491C79D12D}"/>
              </a:ext>
            </a:extLst>
          </p:cNvPr>
          <p:cNvSpPr txBox="1"/>
          <p:nvPr/>
        </p:nvSpPr>
        <p:spPr>
          <a:xfrm>
            <a:off x="122904" y="239750"/>
            <a:ext cx="6145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D4ED8"/>
                </a:solidFill>
                <a:latin typeface="Segoe UI"/>
              </a:defRPr>
            </a:pPr>
            <a:r>
              <a:rPr lang="en-US" sz="1100" dirty="0"/>
              <a:t>P</a:t>
            </a:r>
            <a:r>
              <a:rPr lang="en-IN" sz="1100" dirty="0" err="1"/>
              <a:t>roblem</a:t>
            </a:r>
            <a:r>
              <a:rPr lang="en-IN" sz="1100" dirty="0"/>
              <a:t> statement No.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7A44"/>
                </a:solidFill>
                <a:latin typeface="Segoe UI"/>
              </a:defRPr>
            </a:pPr>
            <a:r>
              <a:t>THE UNRESOLVED REALITY IN INDIAN AGRICULTURE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THE FARMER DOESN'T HAVE A DATA PROBLEM.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They have a decision problem. Raw information without contextual synthesis leaves 100% of the risk on the farmer.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47472"/>
            <a:ext cx="213329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0D3B26"/>
                </a:solidFill>
                <a:latin typeface="Segoe UI"/>
              </a:defRPr>
            </a:pPr>
            <a:r>
              <a:t>KISAN COMPASS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2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1206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120640" cy="502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050" b="1">
                <a:solidFill>
                  <a:srgbClr val="D97706"/>
                </a:solidFill>
                <a:latin typeface="Segoe UI"/>
              </a:defRPr>
            </a:pPr>
            <a:r>
              <a:t>FRAGMENTED SIGNALS (5 SEPARATE SILOS)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212848"/>
            <a:ext cx="4754880" cy="603504"/>
          </a:xfrm>
          <a:prstGeom prst="roundRect">
            <a:avLst/>
          </a:prstGeom>
          <a:solidFill>
            <a:srgbClr val="FAF9F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Weather Forecasts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“68% rain probability” — but does that mean harvest today, or will muddy fields trap the tractor?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07791"/>
            <a:ext cx="4754880" cy="603504"/>
          </a:xfrm>
          <a:prstGeom prst="roundRect">
            <a:avLst/>
          </a:prstGeom>
          <a:solidFill>
            <a:srgbClr val="FAF9F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Mandi Price Bulletins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“Unnao ₹2,380 vs Kanpur ₹2,310” — but which yields more cash after ₹2,500 dedicated truck freight?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02736"/>
            <a:ext cx="4754880" cy="603504"/>
          </a:xfrm>
          <a:prstGeom prst="roundRect">
            <a:avLst/>
          </a:prstGeom>
          <a:solidFill>
            <a:srgbClr val="FAF9F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Crop Agronomy Data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“Day 136 in ground” — but has the grain moisture dropped below 14% to avoid APMC dockage?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97680"/>
            <a:ext cx="4754880" cy="603504"/>
          </a:xfrm>
          <a:prstGeom prst="roundRect">
            <a:avLst/>
          </a:prstGeom>
          <a:solidFill>
            <a:srgbClr val="FAF9F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Soil Moisture Telemetry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“28% field moisture” — but how many days before root-zone moisture permits heavy transport?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992624"/>
            <a:ext cx="4754880" cy="603504"/>
          </a:xfrm>
          <a:prstGeom prst="roundRect">
            <a:avLst/>
          </a:prstGeom>
          <a:solidFill>
            <a:srgbClr val="FAF9F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• Logistics &amp; Tariffs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“28 km rural detour” — manual negotiations with local mini-truck owners with hidden rate gouging.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00200"/>
            <a:ext cx="5242255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600200"/>
            <a:ext cx="5242255" cy="502920"/>
          </a:xfrm>
          <a:prstGeom prst="rect">
            <a:avLst/>
          </a:prstGeom>
          <a:solidFill>
            <a:srgbClr val="F1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050" b="1">
                <a:solidFill>
                  <a:srgbClr val="0D3B26"/>
                </a:solidFill>
                <a:latin typeface="Segoe UI"/>
              </a:defRPr>
            </a:pPr>
            <a:r>
              <a:t>THE UNANSWERED DILEMMAS OF THE REAL FARMER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212848"/>
            <a:ext cx="4876495" cy="60350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“Should I harvest today or hold for 4 days?”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Weighing storm damage against potential post-storm price recovery.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907791"/>
            <a:ext cx="4876495" cy="603504"/>
          </a:xfrm>
          <a:prstGeom prst="roundRect">
            <a:avLst/>
          </a:prstGeom>
          <a:solidFill>
            <a:srgbClr val="F1F8F3"/>
          </a:solidFill>
          <a:ln w="12700">
            <a:solidFill>
              <a:srgbClr val="10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“Where should I sell to maximize net cash?”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Comparing higher mandi quotes against longer rural diesel freight tariffs.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602736"/>
            <a:ext cx="4876495" cy="603504"/>
          </a:xfrm>
          <a:prstGeom prst="roundRect">
            <a:avLst/>
          </a:prstGeom>
          <a:solidFill>
            <a:srgbClr val="F1F8F3"/>
          </a:solidFill>
          <a:ln w="12700">
            <a:solidFill>
              <a:srgbClr val="10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“Will rain ruin grain quality and trigger dockage?”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Downside risk of APMC auction discounts for moisture-damaged grain.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297680"/>
            <a:ext cx="4876495" cy="603504"/>
          </a:xfrm>
          <a:prstGeom prst="roundRect">
            <a:avLst/>
          </a:prstGeom>
          <a:solidFill>
            <a:srgbClr val="F1F8F3"/>
          </a:solidFill>
          <a:ln w="12700">
            <a:solidFill>
              <a:srgbClr val="10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“How much quantity should I commit today?”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Hedging risk by selling a fraction now and holding the remaining stand.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992624"/>
            <a:ext cx="4876495" cy="603504"/>
          </a:xfrm>
          <a:prstGeom prst="roundRect">
            <a:avLst/>
          </a:prstGeom>
          <a:solidFill>
            <a:srgbClr val="F1F8F3"/>
          </a:solidFill>
          <a:ln w="12700">
            <a:solidFill>
              <a:srgbClr val="10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“Will dedicated freight eat my entire arbitrage premium?”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Navigating rural transport pricing without transparent distance calculation.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925312"/>
            <a:ext cx="10728655" cy="438912"/>
          </a:xfrm>
          <a:prstGeom prst="roundRect">
            <a:avLst/>
          </a:prstGeom>
          <a:solidFill>
            <a:srgbClr val="0D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CORE INSIGHT: Information without contextual synthesis does not create decisions. Farmers don't need raw data — they need decision clarity.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7A44"/>
                </a:solidFill>
                <a:latin typeface="Segoe UI"/>
              </a:defRPr>
            </a:pPr>
            <a:r>
              <a:t>SYSTEM ARCHITECTURE &amp; PRODUCT PHILOSOPHY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MEET KISAN COMPASS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A persistent digital state of the farm, continuously combining agricultural signals into explainable decision scenarios.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47472"/>
            <a:ext cx="213329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0D3B26"/>
                </a:solidFill>
                <a:latin typeface="Segoe UI"/>
              </a:defRPr>
            </a:pPr>
            <a:r>
              <a:t>KISAN COMPASS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3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1206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12064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050" b="1">
                <a:solidFill>
                  <a:srgbClr val="1D4ED8"/>
                </a:solidFill>
                <a:latin typeface="Segoe UI"/>
              </a:defRPr>
            </a:pPr>
            <a:r>
              <a:t>CONTINUOUS MULTIMODAL CONVERGENCE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212848"/>
            <a:ext cx="1508760" cy="585216"/>
          </a:xfrm>
          <a:prstGeom prst="round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tlCol="0" anchor="ctr"/>
          <a:lstStyle/>
          <a:p>
            <a:pPr algn="ctr">
              <a:defRPr sz="850" b="1">
                <a:solidFill>
                  <a:srgbClr val="0F172A"/>
                </a:solidFill>
                <a:latin typeface="Segoe UI"/>
              </a:defRPr>
            </a:pPr>
            <a:r>
              <a:t>Weather Forecast</a:t>
            </a:r>
          </a:p>
          <a:p>
            <a:pPr>
              <a:defRPr sz="750">
                <a:solidFill>
                  <a:srgbClr val="475569"/>
                </a:solidFill>
                <a:latin typeface="Segoe UI"/>
              </a:defRPr>
            </a:pPr>
            <a:r>
              <a:t>Open-Meteo NWP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6312" y="2212848"/>
            <a:ext cx="1508760" cy="585216"/>
          </a:xfrm>
          <a:prstGeom prst="round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tlCol="0" anchor="ctr"/>
          <a:lstStyle/>
          <a:p>
            <a:pPr algn="ctr">
              <a:defRPr sz="850" b="1">
                <a:solidFill>
                  <a:srgbClr val="0F172A"/>
                </a:solidFill>
                <a:latin typeface="Segoe UI"/>
              </a:defRPr>
            </a:pPr>
            <a:r>
              <a:t>Mandi Benchmarks</a:t>
            </a:r>
          </a:p>
          <a:p>
            <a:pPr>
              <a:defRPr sz="750">
                <a:solidFill>
                  <a:srgbClr val="475569"/>
                </a:solidFill>
                <a:latin typeface="Segoe UI"/>
              </a:defRPr>
            </a:pPr>
            <a:r>
              <a:t>AGMARKNET Rates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78224" y="2212848"/>
            <a:ext cx="1508760" cy="585216"/>
          </a:xfrm>
          <a:prstGeom prst="round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tlCol="0" anchor="ctr"/>
          <a:lstStyle/>
          <a:p>
            <a:pPr algn="ctr">
              <a:defRPr sz="850" b="1">
                <a:solidFill>
                  <a:srgbClr val="0F172A"/>
                </a:solidFill>
                <a:latin typeface="Segoe UI"/>
              </a:defRPr>
            </a:pPr>
            <a:r>
              <a:t>Soil Profile</a:t>
            </a:r>
          </a:p>
          <a:p>
            <a:pPr>
              <a:defRPr sz="750">
                <a:solidFill>
                  <a:srgbClr val="475569"/>
                </a:solidFill>
                <a:latin typeface="Segoe UI"/>
              </a:defRPr>
            </a:pPr>
            <a:r>
              <a:t>ICAR Loam Telemetry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871215"/>
            <a:ext cx="1508760" cy="585216"/>
          </a:xfrm>
          <a:prstGeom prst="round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tlCol="0" anchor="ctr"/>
          <a:lstStyle/>
          <a:p>
            <a:pPr algn="ctr">
              <a:defRPr sz="850" b="1">
                <a:solidFill>
                  <a:srgbClr val="0F172A"/>
                </a:solidFill>
                <a:latin typeface="Segoe UI"/>
              </a:defRPr>
            </a:pPr>
            <a:r>
              <a:t>Crop Stage</a:t>
            </a:r>
          </a:p>
          <a:p>
            <a:pPr>
              <a:defRPr sz="750">
                <a:solidFill>
                  <a:srgbClr val="475569"/>
                </a:solidFill>
                <a:latin typeface="Segoe UI"/>
              </a:defRPr>
            </a:pPr>
            <a:r>
              <a:t>GDD Thermal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96312" y="2871215"/>
            <a:ext cx="1508760" cy="585216"/>
          </a:xfrm>
          <a:prstGeom prst="round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tlCol="0" anchor="ctr"/>
          <a:lstStyle/>
          <a:p>
            <a:pPr algn="ctr">
              <a:defRPr sz="850" b="1">
                <a:solidFill>
                  <a:srgbClr val="0F172A"/>
                </a:solidFill>
                <a:latin typeface="Segoe UI"/>
              </a:defRPr>
            </a:pPr>
            <a:r>
              <a:t>Rural Logistics</a:t>
            </a:r>
          </a:p>
          <a:p>
            <a:pPr>
              <a:defRPr sz="750">
                <a:solidFill>
                  <a:srgbClr val="475569"/>
                </a:solidFill>
                <a:latin typeface="Segoe UI"/>
              </a:defRPr>
            </a:pPr>
            <a:r>
              <a:t>Haversine Detour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78224" y="2871215"/>
            <a:ext cx="1508760" cy="585216"/>
          </a:xfrm>
          <a:prstGeom prst="round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73152" rtlCol="0" anchor="ctr"/>
          <a:lstStyle/>
          <a:p>
            <a:pPr algn="ctr">
              <a:defRPr sz="850" b="1">
                <a:solidFill>
                  <a:srgbClr val="0F172A"/>
                </a:solidFill>
                <a:latin typeface="Segoe UI"/>
              </a:defRPr>
            </a:pPr>
            <a:r>
              <a:t>Farmer Style</a:t>
            </a:r>
          </a:p>
          <a:p>
            <a:pPr>
              <a:defRPr sz="750">
                <a:solidFill>
                  <a:srgbClr val="475569"/>
                </a:solidFill>
                <a:latin typeface="Segoe UI"/>
              </a:defRPr>
            </a:pPr>
            <a:r>
              <a:t>Risk Tolerance 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657600"/>
            <a:ext cx="4754880" cy="2057400"/>
          </a:xfrm>
          <a:prstGeom prst="roundRect">
            <a:avLst/>
          </a:prstGeom>
          <a:solidFill>
            <a:srgbClr val="F1F8F3"/>
          </a:solidFill>
          <a:ln w="19050">
            <a:solidFill>
              <a:srgbClr val="10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0D3B26"/>
                </a:solidFill>
                <a:latin typeface="Segoe UI"/>
              </a:defRPr>
            </a:pPr>
            <a:r>
              <a:rPr dirty="0"/>
              <a:t>THE PERSISTENT FARM DIGITAL TWIN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rPr sz="1100" dirty="0"/>
              <a:t>• Bound to authenticated </a:t>
            </a:r>
            <a:r>
              <a:rPr sz="1100" dirty="0" err="1"/>
              <a:t>Supabase</a:t>
            </a:r>
            <a:r>
              <a:rPr sz="1100" dirty="0"/>
              <a:t> PostgreSQL cloud state (Tenant RLS)</a:t>
            </a:r>
            <a:br>
              <a:rPr sz="1100" dirty="0"/>
            </a:br>
            <a:r>
              <a:rPr sz="1100" dirty="0"/>
              <a:t>• Farm identity: Field GPS, 7.37 Acres, Wheat HD-2967, 43.6 </a:t>
            </a:r>
            <a:r>
              <a:rPr sz="1100" dirty="0" err="1"/>
              <a:t>qtl</a:t>
            </a:r>
            <a:r>
              <a:rPr sz="1100" dirty="0"/>
              <a:t> stand</a:t>
            </a:r>
            <a:br>
              <a:rPr sz="1100" dirty="0"/>
            </a:br>
            <a:r>
              <a:rPr sz="1100" dirty="0"/>
              <a:t>• Deterministic Net Realization Engine: (Gross Price − Dedicated Freight − Dockage)</a:t>
            </a:r>
            <a:br>
              <a:rPr sz="1100" dirty="0"/>
            </a:br>
            <a:r>
              <a:rPr sz="1100" dirty="0"/>
              <a:t>• Simulates counterfactual horizons: Sell Now vs Wait vs Split</a:t>
            </a:r>
            <a:br>
              <a:rPr sz="1100" dirty="0"/>
            </a:br>
            <a:r>
              <a:rPr sz="1100" dirty="0"/>
              <a:t>• Verifiable mathematical proof generated for every recommendation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00200"/>
            <a:ext cx="5242255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600200"/>
            <a:ext cx="5242255" cy="502920"/>
          </a:xfrm>
          <a:prstGeom prst="rect">
            <a:avLst/>
          </a:prstGeom>
          <a:solidFill>
            <a:srgbClr val="F1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050" b="1">
                <a:solidFill>
                  <a:srgbClr val="0D3B26"/>
                </a:solidFill>
                <a:latin typeface="Segoe UI"/>
              </a:defRPr>
            </a:pPr>
            <a:r>
              <a:t>WHAT THE SYSTEM ACTUALLY DELIVERS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212848"/>
            <a:ext cx="4876495" cy="603504"/>
          </a:xfrm>
          <a:prstGeom prst="roundRect">
            <a:avLst/>
          </a:prstGeom>
          <a:solidFill>
            <a:srgbClr val="FAF9F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1. Actionable Recommendation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Specific, concrete operational guidance (e.g., “Harvest now &amp; dispatch to Unnao Mandi”) rather than vague weather summaries.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907791"/>
            <a:ext cx="4876495" cy="603504"/>
          </a:xfrm>
          <a:prstGeom prst="roundRect">
            <a:avLst/>
          </a:prstGeom>
          <a:solidFill>
            <a:srgbClr val="FAF9F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Transparent Causal “Why”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Explicit mathematical drivers: +₹920 net arbitrage gain over closer Kanpur yard after paying ₹2,521 dedicated haulage.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02736"/>
            <a:ext cx="4876495" cy="603504"/>
          </a:xfrm>
          <a:prstGeom prst="roundRect">
            <a:avLst/>
          </a:prstGeom>
          <a:solidFill>
            <a:srgbClr val="FAF9F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Counterfactual Scenarios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Full simulation of alternative choices: What happens to realization if harvest is delayed +5 days into convective rainfall?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297680"/>
            <a:ext cx="4876495" cy="603504"/>
          </a:xfrm>
          <a:prstGeom prst="roundRect">
            <a:avLst/>
          </a:prstGeom>
          <a:solidFill>
            <a:srgbClr val="FAF9F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Explicit Uncertainty Bounds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P10/P50/P90 probability intervals instead of false single-point certainty. Clear labeling of estimation boundaries.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992624"/>
            <a:ext cx="4876495" cy="603504"/>
          </a:xfrm>
          <a:prstGeom prst="roundRect">
            <a:avLst/>
          </a:prstGeom>
          <a:solidFill>
            <a:srgbClr val="FAF9F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F172A"/>
                </a:solidFill>
                <a:latin typeface="Segoe UI"/>
              </a:defRPr>
            </a:pPr>
            <a:r>
              <a:t>5. Absolute Farmer Authority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Human-in-the-loop checkpoint: Autonomous execution is disallowed by architecture. The farmer holds absolute veto power.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925312"/>
            <a:ext cx="10728655" cy="438912"/>
          </a:xfrm>
          <a:prstGeom prst="roundRect">
            <a:avLst/>
          </a:prstGeom>
          <a:solidFill>
            <a:srgbClr val="0D3B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THE GOLDEN RULE: “The system recommends. The farmer decides.”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7A44"/>
                </a:solidFill>
                <a:latin typeface="Segoe UI"/>
              </a:defRPr>
            </a:pPr>
            <a:r>
              <a:t>TECHNICAL PIPELINE &amp; SYSTEM MECHANICS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FROM FIELD DATA → FARM DECISION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Engineering discipline: Deterministic computation for math and agronomy, LLMs strictly for natural language explanation.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47472"/>
            <a:ext cx="213329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0D3B26"/>
                </a:solidFill>
                <a:latin typeface="Segoe UI"/>
              </a:defRPr>
            </a:pPr>
            <a:r>
              <a:t>KISAN COMPASS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4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256032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800" b="1">
                <a:solidFill>
                  <a:srgbClr val="1D4ED8"/>
                </a:solidFill>
                <a:latin typeface="Segoe UI"/>
              </a:defRPr>
            </a:pPr>
            <a:r>
              <a:t>STAGE 1: FARMER INPUT</a:t>
            </a:r>
          </a:p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Field Setup &amp; Truth Baselines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230458"/>
            <a:ext cx="2340864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rPr sz="1100" dirty="0"/>
              <a:t>• Field GPS &amp; Acreage (7.37 Ac)</a:t>
            </a:r>
            <a:br>
              <a:rPr sz="1100" dirty="0"/>
            </a:br>
            <a:r>
              <a:rPr sz="1100" dirty="0"/>
              <a:t>• Crop Variety: Wheat (HD-2967)</a:t>
            </a:r>
            <a:br>
              <a:rPr sz="1100" dirty="0"/>
            </a:br>
            <a:r>
              <a:rPr sz="1100" dirty="0"/>
              <a:t>• Calibrated Stand: 43.6 Quintals</a:t>
            </a:r>
            <a:br>
              <a:rPr sz="1100" dirty="0"/>
            </a:br>
            <a:r>
              <a:rPr sz="1100" dirty="0"/>
              <a:t>• Farmer Risk Style: Balanced (γ=0.68)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60020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56432" y="1600200"/>
            <a:ext cx="256032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800" b="1">
                <a:solidFill>
                  <a:srgbClr val="1D4ED8"/>
                </a:solidFill>
                <a:latin typeface="Segoe UI"/>
              </a:defRPr>
            </a:pPr>
            <a:r>
              <a:t>STAGE 2: FARM DIGITAL TWIN</a:t>
            </a:r>
          </a:p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Supabase Cloud 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28396"/>
            <a:ext cx="2340864" cy="8463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rPr sz="1100" dirty="0"/>
              <a:t>• PostgreSQL relational schema</a:t>
            </a:r>
            <a:br>
              <a:rPr sz="1100" dirty="0"/>
            </a:br>
            <a:r>
              <a:rPr sz="1100" dirty="0"/>
              <a:t>• Multi-tenant Row-Level Security (RLS)</a:t>
            </a:r>
            <a:br>
              <a:rPr sz="1100" dirty="0"/>
            </a:br>
            <a:r>
              <a:rPr sz="1100" dirty="0"/>
              <a:t>• Cryptographic user token validation</a:t>
            </a:r>
            <a:br>
              <a:rPr sz="1100" dirty="0"/>
            </a:br>
            <a:r>
              <a:rPr sz="1100" dirty="0"/>
              <a:t>• Zero mock or fallback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60020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1344" y="1600200"/>
            <a:ext cx="2560320" cy="457200"/>
          </a:xfrm>
          <a:prstGeom prst="rect">
            <a:avLst/>
          </a:prstGeom>
          <a:solidFill>
            <a:srgbClr val="F1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800" b="1">
                <a:solidFill>
                  <a:srgbClr val="107A44"/>
                </a:solidFill>
                <a:latin typeface="Segoe UI"/>
              </a:defRPr>
            </a:pPr>
            <a:r>
              <a:t>STAGE 3: DATA FABRIC</a:t>
            </a:r>
          </a:p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Multi-Source Telemetry 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262462"/>
            <a:ext cx="2340864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rPr sz="1100" dirty="0"/>
              <a:t>• Open-</a:t>
            </a:r>
            <a:r>
              <a:rPr sz="1100" dirty="0" err="1"/>
              <a:t>Meteo</a:t>
            </a:r>
            <a:r>
              <a:rPr sz="1100" dirty="0"/>
              <a:t> 7-day numerical NWP</a:t>
            </a:r>
            <a:br>
              <a:rPr sz="1100" dirty="0"/>
            </a:br>
            <a:r>
              <a:rPr sz="1100" dirty="0"/>
              <a:t>• AGMARKNET daily modal yard rates</a:t>
            </a:r>
            <a:br>
              <a:rPr sz="1100" dirty="0"/>
            </a:br>
            <a:r>
              <a:rPr sz="1100" dirty="0"/>
              <a:t>• ICAR benchmark silt loam telemetry</a:t>
            </a:r>
            <a:br>
              <a:rPr sz="1100" dirty="0"/>
            </a:br>
            <a:r>
              <a:rPr sz="1100" dirty="0"/>
              <a:t>• Haversine road detour tariffs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60020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06256" y="1600200"/>
            <a:ext cx="2560320" cy="457200"/>
          </a:xfrm>
          <a:prstGeom prst="rect">
            <a:avLst/>
          </a:prstGeom>
          <a:solidFill>
            <a:srgbClr val="F1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800" b="1">
                <a:solidFill>
                  <a:srgbClr val="107A44"/>
                </a:solidFill>
                <a:latin typeface="Segoe UI"/>
              </a:defRPr>
            </a:pPr>
            <a:r>
              <a:t>STAGE 4: DECISION ENGINE</a:t>
            </a:r>
          </a:p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Deterministic Math &amp; Agronomy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2262574"/>
            <a:ext cx="2340864" cy="8463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rPr sz="1100" dirty="0"/>
              <a:t>• GDD Accumulation: Σ(</a:t>
            </a:r>
            <a:r>
              <a:rPr sz="1100" dirty="0" err="1"/>
              <a:t>Tmean</a:t>
            </a:r>
            <a:r>
              <a:rPr sz="1100" dirty="0"/>
              <a:t> − 5°C)</a:t>
            </a:r>
            <a:br>
              <a:rPr sz="1100" dirty="0"/>
            </a:br>
            <a:r>
              <a:rPr sz="1100" dirty="0"/>
              <a:t>• Biological Maturity: 94.6% (1,845 GDD)</a:t>
            </a:r>
            <a:br>
              <a:rPr sz="1100" dirty="0"/>
            </a:br>
            <a:r>
              <a:rPr sz="1100" dirty="0"/>
              <a:t>• Dedicated Rural Haul: ₹2,521</a:t>
            </a:r>
            <a:br>
              <a:rPr sz="1100" dirty="0"/>
            </a:br>
            <a:r>
              <a:rPr sz="1100" dirty="0"/>
              <a:t>• Net Realization: ₹1,00,905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8328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2560320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800" b="1">
                <a:solidFill>
                  <a:srgbClr val="D97706"/>
                </a:solidFill>
                <a:latin typeface="Segoe UI"/>
              </a:defRPr>
            </a:pPr>
            <a:r>
              <a:t>STAGE 5: WHAT-IF SIMULATION</a:t>
            </a:r>
          </a:p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Counterfactual Risk Horizons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040231"/>
            <a:ext cx="2340864" cy="8463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rPr sz="1100" dirty="0"/>
              <a:t>• Simulates Sell Now vs Wait vs Split</a:t>
            </a:r>
            <a:br>
              <a:rPr sz="1100" dirty="0"/>
            </a:br>
            <a:r>
              <a:rPr sz="1100" dirty="0"/>
              <a:t>• Quantile bounds: P10 / P50 / P90</a:t>
            </a:r>
            <a:br>
              <a:rPr sz="1100" dirty="0"/>
            </a:br>
            <a:r>
              <a:rPr sz="1100" dirty="0"/>
              <a:t>• Convective rain dockage: −₹5,292</a:t>
            </a:r>
            <a:br>
              <a:rPr sz="1100" dirty="0"/>
            </a:br>
            <a:r>
              <a:rPr sz="1100" dirty="0"/>
              <a:t>• Downside spread: sqrt(h+1) expansion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56432" y="338328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56432" y="3383280"/>
            <a:ext cx="2560320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800" b="1">
                <a:solidFill>
                  <a:srgbClr val="D97706"/>
                </a:solidFill>
                <a:latin typeface="Segoe UI"/>
              </a:defRPr>
            </a:pPr>
            <a:r>
              <a:t>STAGE 6: EXPLANATION ENGINE</a:t>
            </a:r>
          </a:p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Causal Translation &amp; 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46682"/>
            <a:ext cx="2340864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rPr sz="1100" dirty="0"/>
              <a:t>• LLM synthesizes mathematical proof</a:t>
            </a:r>
            <a:br>
              <a:rPr sz="1100" dirty="0"/>
            </a:br>
            <a:r>
              <a:rPr sz="1100" dirty="0"/>
              <a:t>• Natural language causal narrative</a:t>
            </a:r>
            <a:br>
              <a:rPr sz="1100" dirty="0"/>
            </a:br>
            <a:r>
              <a:rPr sz="1100" dirty="0"/>
              <a:t>• Explains why Unnao beats Kanpur</a:t>
            </a:r>
            <a:br>
              <a:rPr sz="1100" dirty="0"/>
            </a:br>
            <a:r>
              <a:rPr sz="1100" dirty="0"/>
              <a:t>• Voice &amp; vernacular adaptation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38328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81344" y="3383280"/>
            <a:ext cx="2560320" cy="457200"/>
          </a:xfrm>
          <a:prstGeom prst="rect">
            <a:avLst/>
          </a:prstGeom>
          <a:solidFill>
            <a:srgbClr val="F1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800" b="1">
                <a:solidFill>
                  <a:srgbClr val="107A44"/>
                </a:solidFill>
                <a:latin typeface="Segoe UI"/>
              </a:defRPr>
            </a:pPr>
            <a:r>
              <a:t>STAGE 7: FARMER APPROVAL</a:t>
            </a:r>
          </a:p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Architectural Authority Guard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4046682"/>
            <a:ext cx="2340864" cy="8463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rPr sz="1100" dirty="0"/>
              <a:t>• Zero autonomous decision execution</a:t>
            </a:r>
            <a:br>
              <a:rPr sz="1100" dirty="0"/>
            </a:br>
            <a:r>
              <a:rPr sz="1100" dirty="0"/>
              <a:t>• Explicit farmer tap required</a:t>
            </a:r>
            <a:br>
              <a:rPr sz="1100" dirty="0"/>
            </a:br>
            <a:r>
              <a:rPr sz="1100" dirty="0"/>
              <a:t>• Full parameter modification allowed</a:t>
            </a:r>
            <a:br>
              <a:rPr sz="1100" dirty="0"/>
            </a:br>
            <a:r>
              <a:rPr sz="1100" dirty="0"/>
              <a:t>• Records farmer feedback &amp; adapts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06256" y="338328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906256" y="3383280"/>
            <a:ext cx="2560320" cy="457200"/>
          </a:xfrm>
          <a:prstGeom prst="rect">
            <a:avLst/>
          </a:prstGeom>
          <a:solidFill>
            <a:srgbClr val="F1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800" b="1">
                <a:solidFill>
                  <a:srgbClr val="107A44"/>
                </a:solidFill>
                <a:latin typeface="Segoe UI"/>
              </a:defRPr>
            </a:pPr>
            <a:r>
              <a:t>STAGE 8: EXECUTION &amp; OUTCOME</a:t>
            </a:r>
          </a:p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Field Action &amp; Reality Ledger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1447" y="4044537"/>
            <a:ext cx="2340864" cy="8463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rPr sz="1100" dirty="0"/>
              <a:t>• Generates 88 gunny bag count (50kg)</a:t>
            </a:r>
            <a:br>
              <a:rPr sz="1100" dirty="0"/>
            </a:br>
            <a:r>
              <a:rPr sz="1100" dirty="0"/>
              <a:t>• Trucker dispatch &amp; arrival checklist</a:t>
            </a:r>
            <a:br>
              <a:rPr sz="1100" dirty="0"/>
            </a:br>
            <a:r>
              <a:rPr sz="1100" dirty="0"/>
              <a:t>• Immutable settlement recording</a:t>
            </a:r>
            <a:br>
              <a:rPr sz="1100" dirty="0"/>
            </a:br>
            <a:r>
              <a:rPr sz="1100" dirty="0"/>
              <a:t>• Calibration feedback to model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3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ctr"/>
          <a:lstStyle/>
          <a:p>
            <a:pPr algn="ctr">
              <a:spcAft>
                <a:spcPts val="200"/>
              </a:spcAft>
              <a:defRPr sz="1050" b="1">
                <a:solidFill>
                  <a:srgbClr val="0D3B26"/>
                </a:solidFill>
                <a:latin typeface="Segoe UI"/>
              </a:defRPr>
            </a:pPr>
            <a:r>
              <a:t>CRITICAL TECHNICAL DISCIPLINE: LLM ≠ CALCULATOR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• DETERMINISTIC CODE: All financial arithmetic, net realization, road freight tariffs, GDD agronomy, and quantile simulations are calculated via verified TypeScript &amp; PostgreSQL code — zero mathematical hallucination.</a:t>
            </a:r>
            <a:br/>
            <a:r>
              <a:t>• AI / LLM LAYER: Generative AI is deployed exclusively for translation, voice accessibility, and natural-language causal explanations.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7A44"/>
                </a:solidFill>
                <a:latin typeface="Segoe UI"/>
              </a:defRPr>
            </a:pPr>
            <a:r>
              <a:t>USER EXPERIENCE &amp; PRODUCT PANELS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ONE FARM. ONE INTELLIGENCE LAYER.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Replacing 5 disconnected websites with a single coherent reality grounded in real authenticated farm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47472"/>
            <a:ext cx="213329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0D3B26"/>
                </a:solidFill>
                <a:latin typeface="Segoe UI"/>
              </a:defRPr>
            </a:pPr>
            <a:r>
              <a:t>KISAN COMPASS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5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4564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3456432" cy="475488"/>
          </a:xfrm>
          <a:prstGeom prst="rect">
            <a:avLst/>
          </a:prstGeom>
          <a:solidFill>
            <a:srgbClr val="F1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tlCol="0" anchor="ctr"/>
          <a:lstStyle/>
          <a:p>
            <a:pPr algn="ctr">
              <a:defRPr sz="850" b="1">
                <a:solidFill>
                  <a:srgbClr val="0D3B26"/>
                </a:solidFill>
                <a:latin typeface="Segoe UI"/>
              </a:defRPr>
            </a:pPr>
            <a:r>
              <a:t>1. FARM &amp; FIELD DIGITAL TWIN</a:t>
            </a:r>
          </a:p>
          <a:p>
            <a:pPr>
              <a:defRPr sz="750" b="1">
                <a:solidFill>
                  <a:srgbClr val="475569"/>
                </a:solidFill>
                <a:latin typeface="Segoe UI"/>
              </a:defRPr>
            </a:pPr>
            <a:r>
              <a:t>ACTIVE FIELD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318211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D3B26"/>
                </a:solidFill>
                <a:latin typeface="Segoe UI"/>
              </a:defRPr>
            </a:pPr>
            <a:r>
              <a:t>7.37 ACRES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43.6 Qtl 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61488"/>
            <a:ext cx="3182112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rPr sz="1050" dirty="0"/>
              <a:t>• Field: North Field 31 (Kanpur Nagar)</a:t>
            </a:r>
            <a:br>
              <a:rPr sz="1050" dirty="0"/>
            </a:br>
            <a:r>
              <a:rPr sz="1050" dirty="0"/>
              <a:t>• Crop: Wheat (HD-2967) • Sown: 10 Nov 2025</a:t>
            </a:r>
            <a:br>
              <a:rPr sz="1050" dirty="0"/>
            </a:br>
            <a:r>
              <a:rPr sz="1050" dirty="0"/>
              <a:t>• Soil Series: Gangetic Alluvial Silt Loam</a:t>
            </a:r>
            <a:br>
              <a:rPr sz="1050" dirty="0"/>
            </a:br>
            <a:r>
              <a:rPr sz="1050" dirty="0"/>
              <a:t>• Telemetry: 100% Persisted in </a:t>
            </a:r>
            <a:r>
              <a:rPr sz="1050" dirty="0" err="1"/>
              <a:t>Supabase</a:t>
            </a:r>
            <a:r>
              <a:rPr sz="1050" dirty="0"/>
              <a:t> Cloud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564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600200"/>
            <a:ext cx="3456432" cy="475488"/>
          </a:xfrm>
          <a:prstGeom prst="rect">
            <a:avLst/>
          </a:prstGeom>
          <a:solidFill>
            <a:srgbClr val="F1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tlCol="0" anchor="ctr"/>
          <a:lstStyle/>
          <a:p>
            <a:pPr algn="ctr">
              <a:defRPr sz="850" b="1">
                <a:solidFill>
                  <a:srgbClr val="107A44"/>
                </a:solidFill>
                <a:latin typeface="Segoe UI"/>
              </a:defRPr>
            </a:pPr>
            <a:r>
              <a:t>2. BIOLOGICAL AGRONOMY WATCH</a:t>
            </a:r>
          </a:p>
          <a:p>
            <a:pPr>
              <a:defRPr sz="750" b="1">
                <a:solidFill>
                  <a:srgbClr val="475569"/>
                </a:solidFill>
                <a:latin typeface="Segoe UI"/>
              </a:defRPr>
            </a:pPr>
            <a:r>
              <a:t>ICAR GDD 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121408"/>
            <a:ext cx="318211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07A44"/>
                </a:solidFill>
                <a:latin typeface="Segoe UI"/>
              </a:defRPr>
            </a:pPr>
            <a:r>
              <a:t>94.6%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Thermal Maturity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761488"/>
            <a:ext cx="3182112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rPr sz="1050" dirty="0"/>
              <a:t>• 136 Days in Ground • 1,845 / 1,950 GDD</a:t>
            </a:r>
            <a:br>
              <a:rPr sz="1050" dirty="0"/>
            </a:br>
            <a:r>
              <a:rPr sz="1050" dirty="0"/>
              <a:t>• APMC Grade A: 13.2% Grain Moisture (Dry)</a:t>
            </a:r>
            <a:br>
              <a:rPr sz="1050" dirty="0"/>
            </a:br>
            <a:r>
              <a:rPr sz="1050" dirty="0"/>
              <a:t>• Biological Status: Ready for commercial harvest</a:t>
            </a:r>
            <a:br>
              <a:rPr sz="1050" dirty="0"/>
            </a:br>
            <a:r>
              <a:rPr sz="1050" dirty="0"/>
              <a:t>• Operational Window: Next 36 hours optimal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600200"/>
            <a:ext cx="34564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10144" y="1600200"/>
            <a:ext cx="3456432" cy="47548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tlCol="0" anchor="ctr"/>
          <a:lstStyle/>
          <a:p>
            <a:pPr algn="ctr">
              <a:defRPr sz="850" b="1">
                <a:solidFill>
                  <a:srgbClr val="D97706"/>
                </a:solidFill>
                <a:latin typeface="Segoe UI"/>
              </a:defRPr>
            </a:pPr>
            <a:r>
              <a:t>3. REGULATED APMC ARBITRAGE</a:t>
            </a:r>
          </a:p>
          <a:p>
            <a:pPr>
              <a:defRPr sz="750" b="1">
                <a:solidFill>
                  <a:srgbClr val="475569"/>
                </a:solidFill>
                <a:latin typeface="Segoe UI"/>
              </a:defRPr>
            </a:pPr>
            <a:r>
              <a:t>OPTIMAL MANDI SELECTION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2121408"/>
            <a:ext cx="318211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D97706"/>
                </a:solidFill>
                <a:latin typeface="Segoe UI"/>
              </a:defRPr>
            </a:pPr>
            <a:r>
              <a:t>₹1,00,905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Expected Net Realization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2761488"/>
            <a:ext cx="3182112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rPr sz="1050" dirty="0"/>
              <a:t>• Unnao Mandi (28.4 km): ₹2,380 / </a:t>
            </a:r>
            <a:r>
              <a:rPr sz="1050" dirty="0" err="1"/>
              <a:t>Qtl</a:t>
            </a:r>
            <a:r>
              <a:rPr sz="1050" dirty="0"/>
              <a:t> (Optimal)</a:t>
            </a:r>
            <a:br>
              <a:rPr sz="1050" dirty="0"/>
            </a:br>
            <a:r>
              <a:rPr sz="1050" dirty="0"/>
              <a:t>• Kanpur Yard (14.2 km): ₹2,310 / </a:t>
            </a:r>
            <a:r>
              <a:rPr sz="1050" dirty="0" err="1"/>
              <a:t>Qtl</a:t>
            </a:r>
            <a:br>
              <a:rPr sz="1050" dirty="0"/>
            </a:br>
            <a:r>
              <a:rPr sz="1050" dirty="0"/>
              <a:t>• Dedicated Rural Haulage Tariff: ₹2,521</a:t>
            </a:r>
            <a:br>
              <a:rPr sz="1050" dirty="0"/>
            </a:br>
            <a:r>
              <a:rPr sz="1050" dirty="0"/>
              <a:t>• Net Arbitrage Premium: +₹920 over Kanpur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69080"/>
            <a:ext cx="5260543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069080"/>
            <a:ext cx="5260543" cy="47548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tlCol="0" anchor="ctr"/>
          <a:lstStyle/>
          <a:p>
            <a:pPr algn="ctr">
              <a:defRPr sz="850" b="1">
                <a:solidFill>
                  <a:srgbClr val="1D4ED8"/>
                </a:solidFill>
                <a:latin typeface="Segoe UI"/>
              </a:defRPr>
            </a:pPr>
            <a:r>
              <a:t>4. 7-DAY WEATHER OBSERVATION</a:t>
            </a:r>
          </a:p>
          <a:p>
            <a:pPr>
              <a:defRPr sz="750" b="1">
                <a:solidFill>
                  <a:srgbClr val="475569"/>
                </a:solidFill>
                <a:latin typeface="Segoe UI"/>
              </a:defRPr>
            </a:pPr>
            <a:r>
              <a:t>OPEN-METEO NUMERICAL NWP STREAM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590288"/>
            <a:ext cx="4986223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D4ED8"/>
                </a:solidFill>
                <a:latin typeface="Segoe UI"/>
              </a:defRPr>
            </a:pPr>
            <a:r>
              <a:t>68% PRECIPITATION RISK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Convective Storm Within 48 Hours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230368"/>
            <a:ext cx="4986223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rPr sz="1050" dirty="0"/>
              <a:t>• Rainfall Depth: 18–26 mm convective rain band arriving in 48h</a:t>
            </a:r>
            <a:br>
              <a:rPr sz="1050" dirty="0"/>
            </a:br>
            <a:r>
              <a:rPr sz="1050" dirty="0"/>
              <a:t>• Wind Velocity: 38 km/h gusts (Moderate lodging hazard for standing crop)</a:t>
            </a:r>
            <a:br>
              <a:rPr sz="1050" dirty="0"/>
            </a:br>
            <a:r>
              <a:rPr sz="1050" dirty="0"/>
              <a:t>• Harvest Weather Window: 36h clear window active — mobilize immediately</a:t>
            </a:r>
            <a:br>
              <a:rPr sz="1050" dirty="0"/>
            </a:br>
            <a:r>
              <a:rPr sz="1050" dirty="0"/>
              <a:t>• Quality Dockage Exposure: Up to 18% moisture discount if unharvested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4069080"/>
            <a:ext cx="5260543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9632" y="4069080"/>
            <a:ext cx="5260543" cy="475488"/>
          </a:xfrm>
          <a:prstGeom prst="rect">
            <a:avLst/>
          </a:prstGeom>
          <a:solidFill>
            <a:srgbClr val="F1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tlCol="0" anchor="ctr"/>
          <a:lstStyle/>
          <a:p>
            <a:pPr algn="ctr">
              <a:defRPr sz="850" b="1">
                <a:solidFill>
                  <a:srgbClr val="0D3B26"/>
                </a:solidFill>
                <a:latin typeface="Segoe UI"/>
              </a:defRPr>
            </a:pPr>
            <a:r>
              <a:t>5. ACTION COMMAND &amp; DECISION PROOF</a:t>
            </a:r>
          </a:p>
          <a:p>
            <a:pPr>
              <a:defRPr sz="750" b="1">
                <a:solidFill>
                  <a:srgbClr val="475569"/>
                </a:solidFill>
                <a:latin typeface="Segoe UI"/>
              </a:defRPr>
            </a:pPr>
            <a:r>
              <a:t>DETERMINISTIC RECOMMENDATION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590288"/>
            <a:ext cx="4986223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0D3B26"/>
                </a:solidFill>
                <a:latin typeface="Segoe UI"/>
              </a:defRPr>
            </a:pPr>
            <a:r>
              <a:t>HARVEST &amp; DISPATCH TO UNNAO</a:t>
            </a:r>
          </a:p>
          <a:p>
            <a:pPr>
              <a:defRPr sz="800">
                <a:solidFill>
                  <a:srgbClr val="475569"/>
                </a:solidFill>
                <a:latin typeface="Segoe UI"/>
              </a:defRPr>
            </a:pPr>
            <a:r>
              <a:t>Decision Utility Score: 72.2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5230368"/>
            <a:ext cx="4986223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rPr sz="1050" dirty="0"/>
              <a:t>• Optimal Recommendation: Harvest immediately to bypass storm downside</a:t>
            </a:r>
            <a:br>
              <a:rPr sz="1050" dirty="0"/>
            </a:br>
            <a:r>
              <a:rPr sz="1050" dirty="0"/>
              <a:t>• Field Equipment: Mobilize harvester crew &amp; prepare 88 gunny bags (50kg)</a:t>
            </a:r>
            <a:br>
              <a:rPr sz="1050" dirty="0"/>
            </a:br>
            <a:r>
              <a:rPr sz="1050" dirty="0"/>
              <a:t>• Dedicated Haulage: mini-truck booked @ ₹2,521 for 28.4 km route</a:t>
            </a:r>
            <a:br>
              <a:rPr sz="1050" dirty="0"/>
            </a:br>
            <a:r>
              <a:rPr sz="1050" dirty="0"/>
              <a:t>• Human Authority Guard: Awaiting explicit farmer tap — zero auto-execution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7A44"/>
                </a:solidFill>
                <a:latin typeface="Segoe UI"/>
              </a:defRPr>
            </a:pPr>
            <a:r>
              <a:t>THE CORE DIFFERENTIATOR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WHAT IF?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Before making an irreversible harvest decision, see what each choice could actually cost.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47472"/>
            <a:ext cx="213329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0D3B26"/>
                </a:solidFill>
                <a:latin typeface="Segoe UI"/>
              </a:defRPr>
            </a:pPr>
            <a:r>
              <a:t>KISAN COMPASS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6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456432" cy="4160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3456432" cy="594360"/>
          </a:xfrm>
          <a:prstGeom prst="rect">
            <a:avLst/>
          </a:prstGeom>
          <a:solidFill>
            <a:srgbClr val="F1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850" b="1">
                <a:solidFill>
                  <a:srgbClr val="0D3B26"/>
                </a:solidFill>
                <a:latin typeface="Segoe UI"/>
              </a:defRPr>
            </a:pPr>
            <a:r>
              <a:t>SCENARIO A: SELL NOW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RECOMMENDED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31821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D3B26"/>
                </a:solidFill>
                <a:latin typeface="Segoe UI"/>
              </a:defRPr>
            </a:pPr>
            <a:r>
              <a:t>₹1,00,905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Expected Net Realization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017520"/>
            <a:ext cx="3182112" cy="402336"/>
          </a:xfrm>
          <a:prstGeom prst="roundRect">
            <a:avLst/>
          </a:prstGeom>
          <a:solidFill>
            <a:srgbClr val="FAF9F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750" b="1">
                <a:solidFill>
                  <a:srgbClr val="0F172A"/>
                </a:solidFill>
                <a:latin typeface="Segoe UI"/>
              </a:defRPr>
            </a:pPr>
            <a:r>
              <a:t>UNCERTAINTY INTERVAL: ₹98,200 – ₹1,03,500 (HIGH CERTAINTY)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3182112" cy="14542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rPr sz="1050" dirty="0"/>
              <a:t>• Locks in known AGMARKNET APMC benchmark price today (₹2,380/</a:t>
            </a:r>
            <a:r>
              <a:rPr sz="1050" dirty="0" err="1"/>
              <a:t>qtl</a:t>
            </a:r>
            <a:r>
              <a:rPr sz="1050" dirty="0"/>
              <a:t>)</a:t>
            </a:r>
            <a:br>
              <a:rPr sz="1050" dirty="0"/>
            </a:br>
            <a:r>
              <a:rPr sz="1050" dirty="0"/>
              <a:t>• Completely avoids 68% rain risk and impending 18–26 mm storm</a:t>
            </a:r>
            <a:br>
              <a:rPr sz="1050" dirty="0"/>
            </a:br>
            <a:r>
              <a:rPr sz="1050" dirty="0"/>
              <a:t>• Zero dockage exposure: Grain moisture APMC Grade A compliant (13.2%)</a:t>
            </a:r>
            <a:br>
              <a:rPr sz="1050" dirty="0"/>
            </a:br>
            <a:r>
              <a:rPr sz="1050" dirty="0"/>
              <a:t>• Dedicated haulage: 88 bags booked to Unnao Mandi for ₹2,521</a:t>
            </a:r>
            <a:br>
              <a:rPr sz="1050" dirty="0"/>
            </a:br>
            <a:r>
              <a:rPr sz="1050" dirty="0"/>
              <a:t>• Downside Risk Penalty: ₹0 (No weather damage risk)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60020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1600200"/>
            <a:ext cx="3456432" cy="5943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850" b="1">
                <a:solidFill>
                  <a:srgbClr val="D97706"/>
                </a:solidFill>
                <a:latin typeface="Segoe UI"/>
              </a:defRPr>
            </a:pPr>
            <a:r>
              <a:t>SCENARIO B: WAIT (+5 DAYS)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SPECULATIVE 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240280"/>
            <a:ext cx="31821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D97706"/>
                </a:solidFill>
                <a:latin typeface="Segoe UI"/>
              </a:defRPr>
            </a:pPr>
            <a:r>
              <a:t>₹96,800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Expected Net Realization (−₹4,105 Loss)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3017520"/>
            <a:ext cx="3182112" cy="402336"/>
          </a:xfrm>
          <a:prstGeom prst="roundRect">
            <a:avLst/>
          </a:prstGeom>
          <a:solidFill>
            <a:srgbClr val="FAF9F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750" b="1">
                <a:solidFill>
                  <a:srgbClr val="0F172A"/>
                </a:solidFill>
                <a:latin typeface="Segoe UI"/>
              </a:defRPr>
            </a:pPr>
            <a:r>
              <a:t>UNCERTAINTY INTERVAL: ₹82,400 – ₹1,12,000 (HIGH VOLATILITY)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520440"/>
            <a:ext cx="3182112" cy="16158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rPr sz="1050" dirty="0"/>
              <a:t>• Speculative upside: Potential +₹40/</a:t>
            </a:r>
            <a:r>
              <a:rPr sz="1050" dirty="0" err="1"/>
              <a:t>qtl</a:t>
            </a:r>
            <a:r>
              <a:rPr sz="1050" dirty="0"/>
              <a:t> price gain post-storm (+₹1,744)</a:t>
            </a:r>
            <a:br>
              <a:rPr sz="1050" dirty="0"/>
            </a:br>
            <a:r>
              <a:rPr sz="1050" dirty="0"/>
              <a:t>• Severe downside penalty: 18% quality dockage discount (−₹5,292)</a:t>
            </a:r>
            <a:br>
              <a:rPr sz="1050" dirty="0"/>
            </a:br>
            <a:r>
              <a:rPr sz="1050" dirty="0"/>
              <a:t>• Wet soil hazard: Harvester stuck in field, delay compounding loss</a:t>
            </a:r>
            <a:br>
              <a:rPr sz="1050" dirty="0"/>
            </a:br>
            <a:r>
              <a:rPr sz="1050" dirty="0"/>
              <a:t>• Utility Score drops from 72.2 to 64.8 due to storm downside</a:t>
            </a:r>
            <a:br>
              <a:rPr sz="1050" dirty="0"/>
            </a:br>
            <a:r>
              <a:rPr sz="1050" dirty="0"/>
              <a:t>• Downside Risk Penalty: −₹9,856 expected total vulnerability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600200"/>
            <a:ext cx="345643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10144" y="1600200"/>
            <a:ext cx="3456432" cy="5943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850" b="1">
                <a:solidFill>
                  <a:srgbClr val="1D4ED8"/>
                </a:solidFill>
                <a:latin typeface="Segoe UI"/>
              </a:defRPr>
            </a:pPr>
            <a:r>
              <a:t>SCENARIO C: SPLIT HARVEST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BALANCED LIQUIDITY HEDGE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2240280"/>
            <a:ext cx="31821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D4ED8"/>
                </a:solidFill>
                <a:latin typeface="Segoe UI"/>
              </a:defRPr>
            </a:pPr>
            <a:r>
              <a:t>₹99,400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Expected Net Realization (Hedging Strategy)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3017520"/>
            <a:ext cx="3182112" cy="402336"/>
          </a:xfrm>
          <a:prstGeom prst="roundRect">
            <a:avLst/>
          </a:prstGeom>
          <a:solidFill>
            <a:srgbClr val="FAF9F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750" b="1">
                <a:solidFill>
                  <a:srgbClr val="0F172A"/>
                </a:solidFill>
                <a:latin typeface="Segoe UI"/>
              </a:defRPr>
            </a:pPr>
            <a:r>
              <a:t>UNCERTAINTY INTERVAL: ₹91,000 – ₹1,07,500 (MODERATE SPREAD)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3520440"/>
            <a:ext cx="3182112" cy="14542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rPr sz="1050" dirty="0"/>
              <a:t>• Harvests 22 Quintals immediately (44 bags): Locks in ₹50,450 cash</a:t>
            </a:r>
            <a:br>
              <a:rPr sz="1050" dirty="0"/>
            </a:br>
            <a:r>
              <a:rPr sz="1050" dirty="0"/>
              <a:t>• Retains 21.6 Quintals in field for potential post-storm market upside</a:t>
            </a:r>
            <a:br>
              <a:rPr sz="1050" dirty="0"/>
            </a:br>
            <a:r>
              <a:rPr sz="1050" dirty="0"/>
              <a:t>• Downside rain risk halved; immediate family liquidity secured</a:t>
            </a:r>
            <a:br>
              <a:rPr sz="1050" dirty="0"/>
            </a:br>
            <a:r>
              <a:rPr sz="1050" dirty="0"/>
              <a:t>• Freight overhead: Two haulage trips slightly increase unit transport cost</a:t>
            </a:r>
            <a:br>
              <a:rPr sz="1050" dirty="0"/>
            </a:br>
            <a:r>
              <a:rPr sz="1050" dirty="0"/>
              <a:t>• Downside Risk Penalty: −₹4,928 controlled exposure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897880"/>
            <a:ext cx="10728655" cy="457200"/>
          </a:xfrm>
          <a:prstGeom prst="roundRect">
            <a:avLst/>
          </a:prstGeom>
          <a:solidFill>
            <a:srgbClr val="0D3B26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“We don’t pretend to know exactly what will happen. We show how the distribution of possible outcomes shifts with every choice — and keep the farmer in control.”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7A44"/>
                </a:solidFill>
                <a:latin typeface="Segoe UI"/>
              </a:defRPr>
            </a:pPr>
            <a:r>
              <a:t>TRANSPARENCY &amp; DATA INTEGRITY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EVERY NUMBER HAS A STORY.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Destroying the AI black box with end-to-end data provenance, mathematical auditability, and truthful source labeling.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47472"/>
            <a:ext cx="213329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0D3B26"/>
                </a:solidFill>
                <a:latin typeface="Segoe UI"/>
              </a:defRPr>
            </a:pPr>
            <a:r>
              <a:t>KISAN COMPASS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7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72865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950" b="1">
                <a:solidFill>
                  <a:srgbClr val="1D4ED8"/>
                </a:solidFill>
                <a:latin typeface="Segoe UI"/>
              </a:defRPr>
            </a:pPr>
            <a:r>
              <a:t>THE PROVENANCE CHAIN:  DISPLAYED VALUE  ➔  FORMULA &amp; MATH  ➔  SOURCE OF TRUTH  ➔  TIMESTAMP &amp; FRESHNESS  ➔  CONFIDENCE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345643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3456432" cy="384048"/>
          </a:xfrm>
          <a:prstGeom prst="rect">
            <a:avLst/>
          </a:prstGeom>
          <a:solidFill>
            <a:srgbClr val="F1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850" b="1">
                <a:solidFill>
                  <a:srgbClr val="0D3B26"/>
                </a:solidFill>
                <a:latin typeface="Segoe UI"/>
              </a:defRPr>
            </a:pPr>
            <a:r>
              <a:t>TC-WEATHER: WEATHER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651760"/>
            <a:ext cx="3236976" cy="11259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Open-</a:t>
            </a:r>
            <a:r>
              <a:rPr dirty="0" err="1"/>
              <a:t>Meteo</a:t>
            </a:r>
            <a:r>
              <a:rPr dirty="0"/>
              <a:t> Numerical NWP (ECMWF IFS &amp; GFS Model Grid)</a:t>
            </a:r>
          </a:p>
          <a:p>
            <a:pPr>
              <a:defRPr sz="750">
                <a:solidFill>
                  <a:srgbClr val="475569"/>
                </a:solidFill>
                <a:latin typeface="Segoe UI"/>
              </a:defRPr>
            </a:pPr>
            <a:r>
              <a:rPr sz="1050" dirty="0"/>
              <a:t>• Ingests 7-day numerical weather predictions</a:t>
            </a:r>
            <a:br>
              <a:rPr sz="1050" dirty="0"/>
            </a:br>
            <a:r>
              <a:rPr sz="1050" dirty="0"/>
              <a:t>• Freshness window: 45 min cache invalidation</a:t>
            </a:r>
            <a:br>
              <a:rPr sz="1050" dirty="0"/>
            </a:br>
            <a:r>
              <a:rPr sz="1050" dirty="0"/>
              <a:t>• Accurately labeled: Numerical model grid interpolation</a:t>
            </a:r>
            <a:br>
              <a:rPr sz="1050" dirty="0"/>
            </a:br>
            <a:r>
              <a:rPr sz="1050" dirty="0"/>
              <a:t>• Absolute truth: Never called live radar or Doppler radar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240280"/>
            <a:ext cx="345643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2240280"/>
            <a:ext cx="3456432" cy="38404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850" b="1">
                <a:solidFill>
                  <a:srgbClr val="1D4ED8"/>
                </a:solidFill>
                <a:latin typeface="Segoe UI"/>
              </a:defRPr>
            </a:pPr>
            <a:r>
              <a:t>TC-MARKET: APMC MARKET RATES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51760"/>
            <a:ext cx="3236976" cy="1287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AGMARKNET / DMI Bulletin (Official Daily Modal Settlement)</a:t>
            </a:r>
          </a:p>
          <a:p>
            <a:pPr>
              <a:defRPr sz="750">
                <a:solidFill>
                  <a:srgbClr val="475569"/>
                </a:solidFill>
                <a:latin typeface="Segoe UI"/>
              </a:defRPr>
            </a:pPr>
            <a:r>
              <a:rPr sz="1050" dirty="0"/>
              <a:t>• Mandi auction closing prices by Ministry of Agriculture</a:t>
            </a:r>
            <a:br>
              <a:rPr sz="1050" dirty="0"/>
            </a:br>
            <a:r>
              <a:rPr sz="1050" dirty="0"/>
              <a:t>• Optimal yard selection: Unnao ₹2,380 vs Kanpur ₹2,310</a:t>
            </a:r>
            <a:br>
              <a:rPr sz="1050" dirty="0"/>
            </a:br>
            <a:r>
              <a:rPr sz="1050" dirty="0"/>
              <a:t>• Accurately labeled: Official daily reference modal quote</a:t>
            </a:r>
            <a:br>
              <a:rPr sz="1050" dirty="0"/>
            </a:br>
            <a:r>
              <a:rPr sz="1050" dirty="0"/>
              <a:t>• Absolute truth: Never claimed as a live stock ticker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2240280"/>
            <a:ext cx="345643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10144" y="2240280"/>
            <a:ext cx="3456432" cy="384048"/>
          </a:xfrm>
          <a:prstGeom prst="rect">
            <a:avLst/>
          </a:prstGeom>
          <a:solidFill>
            <a:srgbClr val="F1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850" b="1">
                <a:solidFill>
                  <a:srgbClr val="0D3B26"/>
                </a:solidFill>
                <a:latin typeface="Segoe UI"/>
              </a:defRPr>
            </a:pPr>
            <a:r>
              <a:t>TC-LOGISTICS: RURAL HAULAGE TARIFF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2651760"/>
            <a:ext cx="3236976" cy="9258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Geodesic Haversine Detour (1.25x Rural Curvature Factor)</a:t>
            </a:r>
          </a:p>
          <a:p>
            <a:pPr>
              <a:defRPr sz="750">
                <a:solidFill>
                  <a:srgbClr val="475569"/>
                </a:solidFill>
                <a:latin typeface="Segoe UI"/>
              </a:defRPr>
            </a:pPr>
            <a:r>
              <a:rPr sz="1000" dirty="0"/>
              <a:t>• Great-circle distance calibrated with 1.25x detour factor</a:t>
            </a:r>
            <a:br>
              <a:rPr sz="1000" dirty="0"/>
            </a:br>
            <a:r>
              <a:rPr sz="1000" dirty="0"/>
              <a:t>• Dedicated freight tariff: ₹2,000 base + ₹12/</a:t>
            </a:r>
            <a:r>
              <a:rPr sz="1000" dirty="0" err="1"/>
              <a:t>qtl</a:t>
            </a:r>
            <a:r>
              <a:rPr sz="1000" dirty="0"/>
              <a:t> weight scaling</a:t>
            </a:r>
            <a:br>
              <a:rPr sz="1000" dirty="0"/>
            </a:br>
            <a:r>
              <a:rPr sz="1000" dirty="0"/>
              <a:t>• Freight to Unnao (28.4 km): ₹2,521 dedicated haul</a:t>
            </a:r>
            <a:br>
              <a:rPr sz="1000" dirty="0"/>
            </a:br>
            <a:r>
              <a:rPr sz="1000" dirty="0"/>
              <a:t>• Absolute truth: Road distance estimate, never fake GPS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69080"/>
            <a:ext cx="5260543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069080"/>
            <a:ext cx="5260543" cy="38404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850" b="1">
                <a:solidFill>
                  <a:srgbClr val="1D4ED8"/>
                </a:solidFill>
                <a:latin typeface="Segoe UI"/>
              </a:defRPr>
            </a:pPr>
            <a:r>
              <a:t>TC-AGRONOMY: BIOLOGICAL MATURITY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480560"/>
            <a:ext cx="5041087" cy="802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Deterministic GDD Engine (Thermal Units (</a:t>
            </a:r>
            <a:r>
              <a:rPr dirty="0" err="1"/>
              <a:t>T_base</a:t>
            </a:r>
            <a:r>
              <a:rPr dirty="0"/>
              <a:t> = 5.0°C))</a:t>
            </a:r>
          </a:p>
          <a:p>
            <a:pPr>
              <a:defRPr sz="750">
                <a:solidFill>
                  <a:srgbClr val="475569"/>
                </a:solidFill>
                <a:latin typeface="Segoe UI"/>
              </a:defRPr>
            </a:pPr>
            <a:r>
              <a:rPr sz="1050" dirty="0"/>
              <a:t>• Cumulative GDD: Σ max((</a:t>
            </a:r>
            <a:r>
              <a:rPr sz="1050" dirty="0" err="1"/>
              <a:t>Tmax</a:t>
            </a:r>
            <a:r>
              <a:rPr sz="1050" dirty="0"/>
              <a:t> + </a:t>
            </a:r>
            <a:r>
              <a:rPr sz="1050" dirty="0" err="1"/>
              <a:t>Tmin</a:t>
            </a:r>
            <a:r>
              <a:rPr sz="1050" dirty="0"/>
              <a:t>)/2 − 5.0, 0)</a:t>
            </a:r>
            <a:br>
              <a:rPr sz="1050" dirty="0"/>
            </a:br>
            <a:r>
              <a:rPr sz="1050" dirty="0"/>
              <a:t>• Biological maturity: 1,845 / 1,950 GDD (94.6% harvest-ready)</a:t>
            </a:r>
            <a:br>
              <a:rPr sz="1050" dirty="0"/>
            </a:br>
            <a:r>
              <a:rPr sz="1050" dirty="0"/>
              <a:t>• APMC Grade A compliance: 13.2% grain moisture (Safe)</a:t>
            </a:r>
            <a:br>
              <a:rPr sz="1050" dirty="0"/>
            </a:br>
            <a:r>
              <a:rPr sz="1050" dirty="0"/>
              <a:t>• Absolute truth: Agronomic physics, never static calendar days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069080"/>
            <a:ext cx="5260543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4069080"/>
            <a:ext cx="5260543" cy="384048"/>
          </a:xfrm>
          <a:prstGeom prst="rect">
            <a:avLst/>
          </a:prstGeom>
          <a:solidFill>
            <a:srgbClr val="F1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tlCol="0" anchor="ctr"/>
          <a:lstStyle/>
          <a:p>
            <a:pPr algn="ctr">
              <a:defRPr sz="850" b="1">
                <a:solidFill>
                  <a:srgbClr val="0D3B26"/>
                </a:solidFill>
                <a:latin typeface="Segoe UI"/>
              </a:defRPr>
            </a:pPr>
            <a:r>
              <a:t>TC-FORECAST: PRICE UNCERTAINTY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480560"/>
            <a:ext cx="5041087" cy="802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Quantile Horizon Estimator (Parameterized Mandi Baseline)</a:t>
            </a:r>
          </a:p>
          <a:p>
            <a:pPr>
              <a:defRPr sz="750">
                <a:solidFill>
                  <a:srgbClr val="475569"/>
                </a:solidFill>
                <a:latin typeface="Segoe UI"/>
              </a:defRPr>
            </a:pPr>
            <a:r>
              <a:rPr sz="1050" dirty="0"/>
              <a:t>• Computes P10/P50/P90 price intervals using sqrt(h+1) spread</a:t>
            </a:r>
            <a:br>
              <a:rPr sz="1050" dirty="0"/>
            </a:br>
            <a:r>
              <a:rPr sz="1050" dirty="0"/>
              <a:t>• Precipitation penalty: up to 18% moisture dockage discount</a:t>
            </a:r>
            <a:br>
              <a:rPr sz="1050" dirty="0"/>
            </a:br>
            <a:r>
              <a:rPr sz="1050" dirty="0"/>
              <a:t>• Causal explainability: Bayesian risk aversion weighting</a:t>
            </a:r>
            <a:br>
              <a:rPr sz="1050" dirty="0"/>
            </a:br>
            <a:r>
              <a:rPr sz="1050" dirty="0"/>
              <a:t>• Absolute truth: Quantile math, never fake neural networks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943600"/>
            <a:ext cx="10728655" cy="411480"/>
          </a:xfrm>
          <a:prstGeom prst="roundRect">
            <a:avLst/>
          </a:prstGeom>
          <a:solidFill>
            <a:srgbClr val="FAF9F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GRACEFUL DEGRADATION: If an external feed fails, KISAN COMPASS flags cached benchmarks, lowers confidence scores, and alerts the user — it NEVER fabricates fake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7A44"/>
                </a:solidFill>
                <a:latin typeface="Segoe UI"/>
              </a:defRPr>
            </a:pPr>
            <a:r>
              <a:t>PRACTICAL FEASIBILITY &amp; FARMER IMPACT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BUILT TO WORK IN THE REAL WORLD.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Engineered for immediate deployment across Indian agriculture without expensive hardware dependencies or black-box risk.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47472"/>
            <a:ext cx="213329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0D3B26"/>
                </a:solidFill>
                <a:latin typeface="Segoe UI"/>
              </a:defRPr>
            </a:pPr>
            <a:r>
              <a:t>KISAN COMPASS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8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1206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120640" cy="502920"/>
          </a:xfrm>
          <a:prstGeom prst="rect">
            <a:avLst/>
          </a:prstGeom>
          <a:solidFill>
            <a:srgbClr val="F1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050" b="1">
                <a:solidFill>
                  <a:srgbClr val="0D3B26"/>
                </a:solidFill>
                <a:latin typeface="Segoe UI"/>
              </a:defRPr>
            </a:pPr>
            <a:r>
              <a:t>WHY IT IS FEASIBLE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212848"/>
            <a:ext cx="4754880" cy="749808"/>
          </a:xfrm>
          <a:prstGeom prst="roundRect">
            <a:avLst/>
          </a:prstGeom>
          <a:solidFill>
            <a:srgbClr val="F1F8F3"/>
          </a:solidFill>
          <a:ln>
            <a:solidFill>
              <a:srgbClr val="10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D3B26"/>
                </a:solidFill>
                <a:latin typeface="Segoe UI"/>
              </a:defRPr>
            </a:pPr>
            <a:r>
              <a:t>Zero In-Field Hardware Dependency</a:t>
            </a:r>
          </a:p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t>Does not require expensive IoT soil sensors or weather stations. Operates on farmer-verified inputs and open satellite/NWP public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81528"/>
            <a:ext cx="4754880" cy="749808"/>
          </a:xfrm>
          <a:prstGeom prst="roundRect">
            <a:avLst/>
          </a:prstGeom>
          <a:solidFill>
            <a:srgbClr val="F1F8F3"/>
          </a:solidFill>
          <a:ln>
            <a:solidFill>
              <a:srgbClr val="10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D3B26"/>
                </a:solidFill>
                <a:latin typeface="Segoe UI"/>
              </a:defRPr>
            </a:pPr>
            <a:r>
              <a:t>Lightweight &amp; Low-Bandwidth Optimized</a:t>
            </a:r>
          </a:p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t>Built with React + Vite frontend and Supabase cloud. Consumes under 1.1MB total assets; loads reliably over rural 3G/4G connections.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50208"/>
            <a:ext cx="4754880" cy="749808"/>
          </a:xfrm>
          <a:prstGeom prst="roundRect">
            <a:avLst/>
          </a:prstGeom>
          <a:solidFill>
            <a:srgbClr val="F1F8F3"/>
          </a:solidFill>
          <a:ln>
            <a:solidFill>
              <a:srgbClr val="10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D3B26"/>
                </a:solidFill>
                <a:latin typeface="Segoe UI"/>
              </a:defRPr>
            </a:pPr>
            <a:r>
              <a:t>Postgres Row-Level Security (RLS)</a:t>
            </a:r>
          </a:p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t>Multi-tenant cloud architecture with cryptographically enforced tenant isolation. Every farmer's farm and financial data is strictly private.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818888"/>
            <a:ext cx="4754880" cy="749808"/>
          </a:xfrm>
          <a:prstGeom prst="roundRect">
            <a:avLst/>
          </a:prstGeom>
          <a:solidFill>
            <a:srgbClr val="F1F8F3"/>
          </a:solidFill>
          <a:ln>
            <a:solidFill>
              <a:srgbClr val="10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73152" rtlCol="0" anchor="ctr"/>
          <a:lstStyle/>
          <a:p>
            <a:pPr algn="ctr">
              <a:defRPr sz="950" b="1">
                <a:solidFill>
                  <a:srgbClr val="0D3B26"/>
                </a:solidFill>
                <a:latin typeface="Segoe UI"/>
              </a:defRPr>
            </a:pPr>
            <a:r>
              <a:t>Human-in-the-Loop Safeguards</a:t>
            </a:r>
          </a:p>
          <a:p>
            <a:pPr>
              <a:defRPr sz="800">
                <a:solidFill>
                  <a:srgbClr val="0F172A"/>
                </a:solidFill>
                <a:latin typeface="Segoe UI"/>
              </a:defRPr>
            </a:pPr>
            <a:r>
              <a:t>System provides explainable decision support rather than risky automated execution. Eliminates legal and operational liability.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00200"/>
            <a:ext cx="5242255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600200"/>
            <a:ext cx="5242255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050" b="1">
                <a:solidFill>
                  <a:srgbClr val="1D4ED8"/>
                </a:solidFill>
                <a:latin typeface="Segoe UI"/>
              </a:defRPr>
            </a:pPr>
            <a:r>
              <a:t>WHAT CHANGES FOR THE INDIAN FARMER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212848"/>
            <a:ext cx="4876495" cy="169164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D97706"/>
                </a:solidFill>
                <a:latin typeface="Segoe UI"/>
              </a:defRPr>
            </a:pPr>
            <a:r>
              <a:t>BEFORE KISAN COMPASS (FRAGMENTED STATUS QUO)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• Checking 4–5 different apps with contradictory indicators</a:t>
            </a:r>
            <a:br/>
            <a:r>
              <a:t>• Guessing which mandi yields more money without factoring freight</a:t>
            </a:r>
            <a:br/>
            <a:r>
              <a:t>• Panic selling or holding blindly into convective storm damage</a:t>
            </a:r>
            <a:br/>
            <a:r>
              <a:t>• Shocked by 15–20% moisture dockage deductions at the mandi yard</a:t>
            </a:r>
            <a:br/>
            <a:r>
              <a:t>• Regret after irreversible harvest and transport decisions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041648"/>
            <a:ext cx="4876495" cy="1691640"/>
          </a:xfrm>
          <a:prstGeom prst="roundRect">
            <a:avLst/>
          </a:prstGeom>
          <a:solidFill>
            <a:srgbClr val="F1F8F3"/>
          </a:solidFill>
          <a:ln>
            <a:solidFill>
              <a:srgbClr val="10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0D3B26"/>
                </a:solidFill>
                <a:latin typeface="Segoe UI"/>
              </a:defRPr>
            </a:pPr>
            <a:r>
              <a:t>AFTER KISAN COMPASS (DECISION INTELLIGENCE)</a:t>
            </a:r>
          </a:p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t>• One single unified digital twin representing the farmer's actual field</a:t>
            </a:r>
            <a:br/>
            <a:r>
              <a:t>• Net realization calculated in rupees after dedicated freight tariffs</a:t>
            </a:r>
            <a:br/>
            <a:r>
              <a:t>• Simulates counterfactuals before cutting the crop: Sell Now vs Hold vs Split</a:t>
            </a:r>
            <a:br/>
            <a:r>
              <a:t>• Transparent downside dockage warning protects grain quality value</a:t>
            </a:r>
            <a:br/>
            <a:r>
              <a:t>• High-confidence decisions backed by clear mathematical proof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925312"/>
            <a:ext cx="10728655" cy="438912"/>
          </a:xfrm>
          <a:prstGeom prst="roundRect">
            <a:avLst/>
          </a:prstGeom>
          <a:solidFill>
            <a:srgbClr val="0D3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SOCIO-ECONOMIC IMPACT: From information overload to decision clarity — preventing avoidable distress sales across rural India.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7A44"/>
                </a:solidFill>
                <a:latin typeface="Segoe UI"/>
              </a:defRPr>
            </a:pPr>
            <a:r>
              <a:t>THE FINAL TAKEAWAY</a:t>
            </a:r>
          </a:p>
          <a:p>
            <a:pPr>
              <a:spcAft>
                <a:spcPts val="2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NOT ANOTHER FARM DASHBOARD.</a:t>
            </a:r>
          </a:p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Dashboards display data. KISAN COMPASS delivers contextual decision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347472"/>
            <a:ext cx="213329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0D3B26"/>
                </a:solidFill>
                <a:latin typeface="Segoe UI"/>
              </a:defRPr>
            </a:pPr>
            <a:r>
              <a:t>KISAN COMPASS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46520"/>
            <a:ext cx="1072865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475569"/>
                </a:solidFill>
                <a:latin typeface="Segoe UI"/>
              </a:defRPr>
            </a:pPr>
            <a:r>
              <a:t>9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1206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120640" cy="50292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050" b="1">
                <a:solidFill>
                  <a:srgbClr val="475569"/>
                </a:solidFill>
                <a:latin typeface="Segoe UI"/>
              </a:defRPr>
            </a:pPr>
            <a:r>
              <a:t>TRADITIONAL / FRAGMENTED FARM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754880" cy="14542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rPr sz="1050" dirty="0"/>
              <a:t>• FRAGMENTATION: Weather, mandi rates, and crop data in 4–5 separate apps</a:t>
            </a:r>
            <a:br>
              <a:rPr sz="1050" dirty="0"/>
            </a:br>
            <a:r>
              <a:rPr sz="1050" dirty="0"/>
              <a:t>• PRICING ILLUSION: Displays raw commodity quotes ignoring freight tariffs &amp; tolls</a:t>
            </a:r>
            <a:br>
              <a:rPr sz="1050" dirty="0"/>
            </a:br>
            <a:r>
              <a:rPr sz="1050" dirty="0"/>
              <a:t>• FAKE CERTAINTY: Single-point forecasts pretending tomorrow's weather is 100% known</a:t>
            </a:r>
            <a:br>
              <a:rPr sz="1050" dirty="0"/>
            </a:br>
            <a:r>
              <a:rPr sz="1050" dirty="0"/>
              <a:t>• BLACK-BOX ADVICE: Generic prescriptive commands with zero mathematical proof</a:t>
            </a:r>
            <a:br>
              <a:rPr sz="1050" dirty="0"/>
            </a:br>
            <a:r>
              <a:rPr sz="1050" dirty="0"/>
              <a:t>• FARMER BURDEN: Leaves 100% of the cognitive synthesis and financial risk on the farmer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242255" cy="2560320"/>
          </a:xfrm>
          <a:prstGeom prst="roundRect">
            <a:avLst/>
          </a:prstGeom>
          <a:solidFill>
            <a:srgbClr val="F1F8F3"/>
          </a:solidFill>
          <a:ln w="19050">
            <a:solidFill>
              <a:srgbClr val="107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242255" cy="502920"/>
          </a:xfrm>
          <a:prstGeom prst="rect">
            <a:avLst/>
          </a:prstGeom>
          <a:solidFill>
            <a:srgbClr val="10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KISAN COMPASS: DECISION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876495" cy="15234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0F172A"/>
                </a:solidFill>
                <a:latin typeface="Segoe UI"/>
              </a:defRPr>
            </a:pPr>
            <a:r>
              <a:rPr sz="1100" dirty="0"/>
              <a:t>• UNIFIED DIGITAL TWIN: Persistent farm state bound to real field GPS &amp; stand</a:t>
            </a:r>
            <a:br>
              <a:rPr sz="1100" dirty="0"/>
            </a:br>
            <a:r>
              <a:rPr sz="1100" dirty="0"/>
              <a:t>• TRUE NET REALIZATION: Real cash income in rupees after dedicated rural haulage</a:t>
            </a:r>
            <a:br>
              <a:rPr sz="1100" dirty="0"/>
            </a:br>
            <a:r>
              <a:rPr sz="1100" dirty="0"/>
              <a:t>• WHAT-IF SIMULATION: Evaluates Sell Now vs Wait vs Split trade-offs before acting</a:t>
            </a:r>
            <a:br>
              <a:rPr sz="1100" dirty="0"/>
            </a:br>
            <a:r>
              <a:rPr sz="1100" dirty="0"/>
              <a:t>• AUDITABLE TRUTH: 12-step verifiable mathematical proof sequence for every claim</a:t>
            </a:r>
            <a:br>
              <a:rPr sz="1100" dirty="0"/>
            </a:br>
            <a:r>
              <a:rPr sz="1100" dirty="0"/>
              <a:t>• ABSOLUTE HUMAN CONTROL: Autonomous execution disallowed; farmer holds total veto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15968"/>
            <a:ext cx="10728655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28016" rtlCol="0" anchor="ctr"/>
          <a:lstStyle/>
          <a:p>
            <a:pPr algn="ctr">
              <a:defRPr sz="1000" b="1">
                <a:solidFill>
                  <a:srgbClr val="1D4ED8"/>
                </a:solidFill>
                <a:latin typeface="Segoe UI"/>
              </a:defRPr>
            </a:pPr>
            <a:r>
              <a:t>THE REPRODUCIBLE PRODUCT LOOP:  OBSERVE  ➔  UNDERSTAND  ➔  SIMULATE  ➔  DECIDE  ➔  EXECUTE  ➔  LEARN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47488"/>
            <a:ext cx="10728655" cy="1234440"/>
          </a:xfrm>
          <a:prstGeom prst="roundRect">
            <a:avLst/>
          </a:prstGeom>
          <a:solidFill>
            <a:srgbClr val="0D3B2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ctr"/>
          <a:lstStyle/>
          <a:p>
            <a:pPr algn="ctr">
              <a:spcAft>
                <a:spcPts val="400"/>
              </a:spcAft>
              <a:defRPr sz="1200">
                <a:solidFill>
                  <a:srgbClr val="D97706"/>
                </a:solidFill>
                <a:latin typeface="Segoe UI"/>
              </a:defRPr>
            </a:pPr>
            <a:r>
              <a:t>“KISAN COMPASS doesn't decide for the farmer.”</a:t>
            </a:r>
          </a:p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“Not what to think. What’s actually true — and how sure we are.”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2737</Words>
  <Application>Microsoft Office PowerPoint</Application>
  <PresentationFormat>Widescreen</PresentationFormat>
  <Paragraphs>221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darshil nigam</cp:lastModifiedBy>
  <cp:revision>2</cp:revision>
  <dcterms:created xsi:type="dcterms:W3CDTF">2013-01-27T09:14:16Z</dcterms:created>
  <dcterms:modified xsi:type="dcterms:W3CDTF">2026-09-27T06:11:27Z</dcterms:modified>
  <cp:category/>
</cp:coreProperties>
</file>