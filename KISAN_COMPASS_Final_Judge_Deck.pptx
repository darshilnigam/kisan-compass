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r="http://schemas.openxmlformats.org/officeDocument/2006/relationships" xmlns:a="http://schemas.openxmlformats.org/drawingml/2006/main" autoCompressPictures="0" saveSubsetFonts="1" showSpecialPlsOnTitleSld="0">
  <p:sldMasterIdLst>
    <p:sldMasterId id="2147483663" r:id="rId1"/>
  </p:sldMasterIdLst>
  <p:notesMasterIdLst>
    <p:notesMasterId r:id="rId2"/>
  </p:notesMasterIdLst>
  <p:sldIdLst>
    <p:sldId id="285" r:id="rId3"/>
    <p:sldId id="286" r:id="rId4"/>
    <p:sldId id="287" r:id="rId5"/>
    <p:sldId id="288" r:id="rId6"/>
    <p:sldId id="289" r:id="rId7"/>
    <p:sldId id="290" r:id="rId8"/>
    <p:sldId id="291" r:id="rId13"/>
    <p:sldId id="292" r:id="rId14"/>
    <p:sldId id="293" r:id="rId15"/>
  </p:sldIdLst>
  <p:sldSz type="screen16x9" cy="6858000" cx="12192000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algn="l" defTabSz="914400" eaLnBrk="1" hangingPunct="1" latinLnBrk="0" marL="2286000" rtl="0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algn="l" defTabSz="914400" eaLnBrk="1" hangingPunct="1" latinLnBrk="0" marL="2743200" rtl="0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algn="l" defTabSz="914400" eaLnBrk="1" hangingPunct="1" latinLnBrk="0" marL="3200400" rtl="0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algn="l" defTabSz="914400" eaLnBrk="1" hangingPunct="1" latinLnBrk="0" marL="3657600" rtl="0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</p:presentation>
</file>

<file path=ppt/presProps.xml><?xml version="1.0" encoding="utf-8"?>
<p:presentationPr xmlns:p="http://schemas.openxmlformats.org/presentationml/2006/main" xmlns:r="http://schemas.openxmlformats.org/officeDocument/2006/relationships" xmlns:a="http://schemas.openxmlformats.org/drawingml/2006/main">
  <p:showPr>
    <p:present/>
    <p:sldAll/>
    <p:penClr>
      <a:prstClr val="red"/>
    </p:penClr>
  </p:showPr>
  <p:clrMru>
    <a:srgbClr val="9BBB59"/>
    <a:srgbClr val="39B0D4"/>
    <a:srgbClr val="727272"/>
    <a:srgbClr val="010000"/>
    <a:srgbClr val="FFA751"/>
    <a:srgbClr val="323232"/>
  </p:clrMru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r="http://schemas.openxmlformats.org/officeDocument/2006/relationships" xmlns:a="http://schemas.openxmlformats.org/drawingml/2006/main" lastView="sldThumbnailView">
  <p:normalViewPr showOutlineIcons="0"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-798" y="-9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8028800" cy="780288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tableStyles" Target="tableStyles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4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89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/>
        </p:spPr>
        <p:txBody>
          <a:bodyPr bIns="45720" lIns="91440" rIns="91440" rtlCol="0" tIns="45720" vert="horz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1048690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/>
        </p:spPr>
        <p:txBody>
          <a:bodyPr anchor="t" anchorCtr="0" bIns="45720" compatLnSpc="1" lIns="91440" numCol="1" rIns="91440" tIns="45720" vert="horz" wrap="square">
            <a:prstTxWarp prst="textNoShape"/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t>7/24/2026</a:t>
            </a:fld>
            <a:endParaRPr lang="en-US"/>
          </a:p>
        </p:txBody>
      </p:sp>
      <p:sp>
        <p:nvSpPr>
          <p:cNvPr id="1048691" name="Slide Image Placeholder 3"/>
          <p:cNvSpPr>
            <a:spLocks noChangeAspect="1" noRot="1" noGrp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/>
          <a:noFill/>
          <a:ln w="12700">
            <a:solidFill>
              <a:prstClr val="black"/>
            </a:solidFill>
          </a:ln>
        </p:spPr>
        <p:txBody>
          <a:bodyPr anchor="ctr" bIns="45720" lIns="91440" rIns="91440" rtlCol="0" tIns="45720" vert="horz"/>
          <a:p>
            <a:pPr lvl="0"/>
            <a:endParaRPr lang="en-US" noProof="0"/>
          </a:p>
        </p:txBody>
      </p:sp>
      <p:sp>
        <p:nvSpPr>
          <p:cNvPr id="1048692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/>
        </p:spPr>
        <p:txBody>
          <a:bodyPr bIns="45720" lIns="91440" rIns="91440" rtlCol="0" tIns="45720" vert="horz">
            <a:normAutofit/>
          </a:bodyPr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048693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/>
        </p:spPr>
        <p:txBody>
          <a:bodyPr anchor="b" bIns="45720" lIns="91440" rIns="91440" rtlCol="0" tIns="45720" vert="horz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1048694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/>
        </p:spPr>
        <p:txBody>
          <a:bodyPr anchor="b" anchorCtr="0" bIns="45720" compatLnSpc="1" lIns="91440" numCol="1" rIns="91440" tIns="45720" vert="horz" wrap="square">
            <a:prstTxWarp prst="textNoShape"/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tx1="dk1" tx2="dk2" hlink="hlink" folHlink="folHlink"/>
  <p:notesStyle>
    <a:lvl1pPr algn="l" defTabSz="457200" eaLnBrk="0" fontAlgn="base" hangingPunct="0" rtl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algn="l" defTabSz="457200" eaLnBrk="0" fontAlgn="base" hangingPunct="0" marL="457200" rtl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algn="l" defTabSz="457200" eaLnBrk="0" fontAlgn="base" hangingPunct="0" marL="914400" rtl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algn="l" defTabSz="457200" eaLnBrk="0" fontAlgn="base" hangingPunct="0" marL="1371600" rtl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algn="l" defTabSz="457200" eaLnBrk="0" fontAlgn="base" hangingPunct="0" marL="1828800" rtl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algn="l" defTabSz="457200" eaLnBrk="1" hangingPunct="1" latinLnBrk="0" marL="2286000" rtl="0">
      <a:defRPr sz="1200" kern="12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sz="1200" kern="12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sz="1200" kern="12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28" name="Slide Image Placeholder 1"/>
          <p:cNvSpPr>
            <a:spLocks noChangeAspect="1" noRot="1" noGrp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048629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anchor="t" anchorCtr="0" compatLnSpc="1" numCol="1" wrap="square">
            <a:prstTxWarp prst="textNoShape"/>
          </a:bodyPr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048630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p>
            <a:fld id="{65F62A7E-A2F8-438F-9CF8-47DE63F471B4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19" name="Slide Image Placeholder 1"/>
          <p:cNvSpPr>
            <a:spLocks noChangeAspect="1" noRot="1" noGrp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048620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anchor="t" anchorCtr="0" compatLnSpc="1" numCol="1" wrap="square">
            <a:prstTxWarp prst="textNoShape"/>
          </a:bodyPr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048621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p>
            <a:fld id="{0CA7B74D-3791-4AC6-8451-F10DBCCCDD9A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10" name="Slide Image Placeholder 1"/>
          <p:cNvSpPr>
            <a:spLocks noChangeAspect="1" noRot="1" noGrp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048611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anchor="t" anchorCtr="0" compatLnSpc="1" numCol="1" wrap="square">
            <a:prstTxWarp prst="textNoShape"/>
          </a:bodyPr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048612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p>
            <a:pPr algn="r" defTabSz="457200" eaLnBrk="1" fontAlgn="base" hangingPunct="1" indent="0" latinLnBrk="0" lvl="0" marL="0" marR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0CA7B74D-3791-4AC6-8451-F10DBCCCDD9A}" type="slidenum">
              <a:rPr baseline="0" b="0" cap="none" sz="1200" i="0" kern="1200" kumimoji="0" lang="en-US" noProof="0" normalizeH="0" spc="0" strike="noStrike" u="none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algn="r" defTabSz="457200" eaLnBrk="1" fontAlgn="base" hangingPunct="1" indent="0" latinLnBrk="0" lvl="0" marL="0" marR="0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t>4</a:t>
            </a:fld>
            <a:endParaRPr baseline="0" b="0" cap="none" sz="1200" i="0" kern="1200" kumimoji="0" lang="en-US" noProof="0" normalizeH="0" spc="0" strike="noStrike" u="none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92" name="Slide Image Placeholder 1"/>
          <p:cNvSpPr>
            <a:spLocks noChangeAspect="1" noRot="1" noGrp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048593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anchor="t" anchorCtr="0" compatLnSpc="1" numCol="1" wrap="square">
            <a:prstTxWarp prst="textNoShape"/>
          </a:bodyPr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048594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p>
            <a:pPr algn="r" defTabSz="457200" eaLnBrk="1" fontAlgn="base" hangingPunct="1" indent="0" latinLnBrk="0" lvl="0" marL="0" marR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0CA7B74D-3791-4AC6-8451-F10DBCCCDD9A}" type="slidenum">
              <a:rPr baseline="0" b="0" cap="none" sz="1200" i="0" kern="1200" kumimoji="0" lang="en-US" noProof="0" normalizeH="0" spc="0" strike="noStrike" u="none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algn="r" defTabSz="457200" eaLnBrk="1" fontAlgn="base" hangingPunct="1" indent="0" latinLnBrk="0" lvl="0" marL="0" marR="0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t>5</a:t>
            </a:fld>
            <a:endParaRPr baseline="0" b="0" cap="none" sz="1200" i="0" kern="1200" kumimoji="0" lang="en-US" noProof="0" normalizeH="0" spc="0" strike="noStrike" u="none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01" name="Slide Image Placeholder 1"/>
          <p:cNvSpPr>
            <a:spLocks noChangeAspect="1" noRot="1" noGrp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048602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anchor="t" anchorCtr="0" compatLnSpc="1" numCol="1" wrap="square">
            <a:prstTxWarp prst="textNoShape"/>
          </a:bodyPr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048603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p>
            <a:pPr algn="r" defTabSz="457200" eaLnBrk="1" fontAlgn="base" hangingPunct="1" indent="0" latinLnBrk="0" lvl="0" marL="0" marR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0CA7B74D-3791-4AC6-8451-F10DBCCCDD9A}" type="slidenum">
              <a:rPr baseline="0" b="0" cap="none" sz="1200" i="0" kern="1200" kumimoji="0" lang="en-US" noProof="0" normalizeH="0" spc="0" strike="noStrike" u="none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algn="r" defTabSz="457200" eaLnBrk="1" fontAlgn="base" hangingPunct="1" indent="0" latinLnBrk="0" lvl="0" marL="0" marR="0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t>6</a:t>
            </a:fld>
            <a:endParaRPr baseline="0" b="0" cap="none" sz="1200" i="0" kern="1200" kumimoji="0" lang="en-US" noProof="0" normalizeH="0" spc="0" strike="noStrike" u="none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title">
  <p:cSld name="Title Slide">
    <p:spTree>
      <p:nvGrpSpPr>
        <p:cNvPr id="3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31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p>
            <a:r>
              <a:rPr lang="en-US"/>
              <a:t>Click to edit Master title style</a:t>
            </a:r>
          </a:p>
        </p:txBody>
      </p:sp>
      <p:sp>
        <p:nvSpPr>
          <p:cNvPr id="1048632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4863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E60792E3-D524-454C-8AFD-A91972900BCB}" type="datetime1">
              <a:rPr lang="en-US" smtClean="0"/>
              <a:t>7/24/2026</a:t>
            </a:fld>
            <a:endParaRPr lang="en-US"/>
          </a:p>
        </p:txBody>
      </p:sp>
      <p:sp>
        <p:nvSpPr>
          <p:cNvPr id="104863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t>KISAN COMPASS — Farm Decision Intelligence • Team FusionX4</a:t>
            </a:r>
          </a:p>
        </p:txBody>
      </p:sp>
      <p:sp>
        <p:nvSpPr>
          <p:cNvPr id="104863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5B7E1BAA-A38D-40DE-B22C-DF9BD7D8205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and Content">
    <p:spTree>
      <p:nvGrpSpPr>
        <p:cNvPr id="2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1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Click to edit Master title style</a:t>
            </a:r>
          </a:p>
        </p:txBody>
      </p:sp>
      <p:sp>
        <p:nvSpPr>
          <p:cNvPr id="1048582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4858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08B7524-32A2-4C20-A58C-BC3BAA1042FC}" type="datetime1">
              <a:rPr lang="en-US" smtClean="0"/>
              <a:t>7/24/2026</a:t>
            </a:fld>
            <a:endParaRPr lang="en-US"/>
          </a:p>
        </p:txBody>
      </p:sp>
      <p:sp>
        <p:nvSpPr>
          <p:cNvPr id="104858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t>KISAN COMPASS — Farm Decision Intelligence • Team FusionX4</a:t>
            </a:r>
          </a:p>
        </p:txBody>
      </p:sp>
      <p:sp>
        <p:nvSpPr>
          <p:cNvPr id="104858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77C3CE7-23F7-4828-823C-E0205DF2CF97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secHead">
  <p:cSld name="Section Header">
    <p:spTree>
      <p:nvGrpSpPr>
        <p:cNvPr id="4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61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b="1" cap="all"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48662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indent="0" marL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indent="0" marL="45720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indent="0" marL="91440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indent="0" marL="137160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indent="0" marL="182880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indent="0" marL="228600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indent="0" marL="274320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indent="0" marL="320040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indent="0" marL="365760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4866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1E994447-D6B2-43BB-A877-57F1A267B999}" type="datetime1">
              <a:rPr lang="en-US" smtClean="0"/>
              <a:t>7/24/2026</a:t>
            </a:fld>
            <a:endParaRPr lang="en-US"/>
          </a:p>
        </p:txBody>
      </p:sp>
      <p:sp>
        <p:nvSpPr>
          <p:cNvPr id="104866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t>KISAN COMPASS — Farm Decision Intelligence • Team FusionX4</a:t>
            </a:r>
          </a:p>
        </p:txBody>
      </p:sp>
      <p:sp>
        <p:nvSpPr>
          <p:cNvPr id="104866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1DB31D2-2A87-4F4C-A9AD-05C6CC2B321D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twoObj">
  <p:cSld name="Two Content">
    <p:spTree>
      <p:nvGrpSpPr>
        <p:cNvPr id="4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66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Click to edit Master title style</a:t>
            </a:r>
          </a:p>
        </p:txBody>
      </p:sp>
      <p:sp>
        <p:nvSpPr>
          <p:cNvPr id="1048667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48668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48669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68920E16-BD35-483C-AA6B-346FC7E46DEA}" type="datetime1">
              <a:rPr lang="en-US" smtClean="0"/>
              <a:t>7/24/2026</a:t>
            </a:fld>
            <a:endParaRPr lang="en-US"/>
          </a:p>
        </p:txBody>
      </p:sp>
      <p:sp>
        <p:nvSpPr>
          <p:cNvPr id="1048670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t>KISAN COMPASS — Farm Decision Intelligence • Team FusionX4</a:t>
            </a:r>
          </a:p>
        </p:txBody>
      </p:sp>
      <p:sp>
        <p:nvSpPr>
          <p:cNvPr id="1048671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E1FC16D9-1635-4844-816A-0A8A2160FADA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twoTxTwoObj">
  <p:cSld name="Comparison">
    <p:spTree>
      <p:nvGrpSpPr>
        <p:cNvPr id="4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7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Click to edit Master title style</a:t>
            </a:r>
          </a:p>
        </p:txBody>
      </p:sp>
      <p:sp>
        <p:nvSpPr>
          <p:cNvPr id="104867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indent="0" marL="0">
              <a:buNone/>
              <a:defRPr b="1" sz="2400"/>
            </a:lvl1pPr>
            <a:lvl2pPr indent="0" marL="457200">
              <a:buNone/>
              <a:defRPr b="1" sz="2000"/>
            </a:lvl2pPr>
            <a:lvl3pPr indent="0" marL="914400">
              <a:buNone/>
              <a:defRPr b="1" sz="1800"/>
            </a:lvl3pPr>
            <a:lvl4pPr indent="0" marL="1371600">
              <a:buNone/>
              <a:defRPr b="1" sz="1600"/>
            </a:lvl4pPr>
            <a:lvl5pPr indent="0" marL="1828800">
              <a:buNone/>
              <a:defRPr b="1" sz="1600"/>
            </a:lvl5pPr>
            <a:lvl6pPr indent="0" marL="2286000">
              <a:buNone/>
              <a:defRPr b="1" sz="1600"/>
            </a:lvl6pPr>
            <a:lvl7pPr indent="0" marL="2743200">
              <a:buNone/>
              <a:defRPr b="1" sz="1600"/>
            </a:lvl7pPr>
            <a:lvl8pPr indent="0" marL="3200400">
              <a:buNone/>
              <a:defRPr b="1" sz="1600"/>
            </a:lvl8pPr>
            <a:lvl9pPr indent="0" marL="3657600">
              <a:buNone/>
              <a:defRPr b="1"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4867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4867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indent="0" marL="0">
              <a:buNone/>
              <a:defRPr b="1" sz="2400"/>
            </a:lvl1pPr>
            <a:lvl2pPr indent="0" marL="457200">
              <a:buNone/>
              <a:defRPr b="1" sz="2000"/>
            </a:lvl2pPr>
            <a:lvl3pPr indent="0" marL="914400">
              <a:buNone/>
              <a:defRPr b="1" sz="1800"/>
            </a:lvl3pPr>
            <a:lvl4pPr indent="0" marL="1371600">
              <a:buNone/>
              <a:defRPr b="1" sz="1600"/>
            </a:lvl4pPr>
            <a:lvl5pPr indent="0" marL="1828800">
              <a:buNone/>
              <a:defRPr b="1" sz="1600"/>
            </a:lvl5pPr>
            <a:lvl6pPr indent="0" marL="2286000">
              <a:buNone/>
              <a:defRPr b="1" sz="1600"/>
            </a:lvl6pPr>
            <a:lvl7pPr indent="0" marL="2743200">
              <a:buNone/>
              <a:defRPr b="1" sz="1600"/>
            </a:lvl7pPr>
            <a:lvl8pPr indent="0" marL="3200400">
              <a:buNone/>
              <a:defRPr b="1" sz="1600"/>
            </a:lvl8pPr>
            <a:lvl9pPr indent="0" marL="3657600">
              <a:buNone/>
              <a:defRPr b="1"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4867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4867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2FEAC6F8-5103-4FC0-A69E-5C6AE6469DA8}" type="datetime1">
              <a:rPr lang="en-US" smtClean="0"/>
              <a:t>7/24/2026</a:t>
            </a:fld>
            <a:endParaRPr lang="en-US"/>
          </a:p>
        </p:txBody>
      </p:sp>
      <p:sp>
        <p:nvSpPr>
          <p:cNvPr id="104867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t>KISAN COMPASS — Farm Decision Intelligence • Team FusionX4</a:t>
            </a:r>
          </a:p>
        </p:txBody>
      </p:sp>
      <p:sp>
        <p:nvSpPr>
          <p:cNvPr id="104867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71C4100A-98DE-4944-910A-A93F5CA9F72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titleOnly">
  <p:cSld name="Title Only"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1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Click to edit Master title style</a:t>
            </a:r>
          </a:p>
        </p:txBody>
      </p:sp>
      <p:sp>
        <p:nvSpPr>
          <p:cNvPr id="104864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C60C6921-0627-4C8F-83D5-0CF936D2FFDD}" type="datetime1">
              <a:rPr lang="en-US" smtClean="0"/>
              <a:t>7/24/2026</a:t>
            </a:fld>
            <a:endParaRPr lang="en-US"/>
          </a:p>
        </p:txBody>
      </p:sp>
      <p:sp>
        <p:nvSpPr>
          <p:cNvPr id="104864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t>KISAN COMPASS — Farm Decision Intelligence • Team FusionX4</a:t>
            </a:r>
          </a:p>
        </p:txBody>
      </p:sp>
      <p:sp>
        <p:nvSpPr>
          <p:cNvPr id="104864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A63342B-5A73-45DC-864D-086DE78037E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blank">
  <p:cSld name="Blank">
    <p:spTree>
      <p:nvGrpSpPr>
        <p:cNvPr id="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80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2FF08AD7-8103-40F8-983C-E2BA6BB9CBE0}" type="datetime1">
              <a:rPr lang="en-US" smtClean="0"/>
              <a:t>7/24/2026</a:t>
            </a:fld>
            <a:endParaRPr lang="en-US"/>
          </a:p>
        </p:txBody>
      </p:sp>
      <p:sp>
        <p:nvSpPr>
          <p:cNvPr id="1048681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t>KISAN COMPASS — Farm Decision Intelligence • Team FusionX4</a:t>
            </a:r>
          </a:p>
        </p:txBody>
      </p:sp>
      <p:sp>
        <p:nvSpPr>
          <p:cNvPr id="1048682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B635AFB3-1ACD-44AC-8702-86B1729DF03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Tx">
  <p:cSld name="Content with Caption">
    <p:spTree>
      <p:nvGrpSpPr>
        <p:cNvPr id="4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83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b="1" sz="2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48684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48685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indent="0" marL="0">
              <a:buNone/>
              <a:defRPr sz="1400"/>
            </a:lvl1pPr>
            <a:lvl2pPr indent="0" marL="457200">
              <a:buNone/>
              <a:defRPr sz="1200"/>
            </a:lvl2pPr>
            <a:lvl3pPr indent="0" marL="914400">
              <a:buNone/>
              <a:defRPr sz="1000"/>
            </a:lvl3pPr>
            <a:lvl4pPr indent="0" marL="1371600">
              <a:buNone/>
              <a:defRPr sz="900"/>
            </a:lvl4pPr>
            <a:lvl5pPr indent="0" marL="1828800">
              <a:buNone/>
              <a:defRPr sz="900"/>
            </a:lvl5pPr>
            <a:lvl6pPr indent="0" marL="2286000">
              <a:buNone/>
              <a:defRPr sz="900"/>
            </a:lvl6pPr>
            <a:lvl7pPr indent="0" marL="2743200">
              <a:buNone/>
              <a:defRPr sz="900"/>
            </a:lvl7pPr>
            <a:lvl8pPr indent="0" marL="3200400">
              <a:buNone/>
              <a:defRPr sz="900"/>
            </a:lvl8pPr>
            <a:lvl9pPr indent="0" marL="365760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48686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DF8C06B4-9380-4A4D-AF49-A3596E17DAF5}" type="datetime1">
              <a:rPr lang="en-US" smtClean="0"/>
              <a:t>7/24/2026</a:t>
            </a:fld>
            <a:endParaRPr lang="en-US"/>
          </a:p>
        </p:txBody>
      </p:sp>
      <p:sp>
        <p:nvSpPr>
          <p:cNvPr id="104868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t>KISAN COMPASS — Farm Decision Intelligence • Team FusionX4</a:t>
            </a:r>
          </a:p>
        </p:txBody>
      </p:sp>
      <p:sp>
        <p:nvSpPr>
          <p:cNvPr id="104868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05CF15F3-5E77-4C57-9E21-50D6D1D6C022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picTx">
  <p:cSld name="Picture with Caption">
    <p:spTree>
      <p:nvGrpSpPr>
        <p:cNvPr id="4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0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b="1" sz="2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48651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indent="0" marL="0">
              <a:buNone/>
              <a:defRPr sz="3200"/>
            </a:lvl1pPr>
            <a:lvl2pPr indent="0" marL="457200">
              <a:buNone/>
              <a:defRPr sz="2800"/>
            </a:lvl2pPr>
            <a:lvl3pPr indent="0" marL="914400">
              <a:buNone/>
              <a:defRPr sz="2400"/>
            </a:lvl3pPr>
            <a:lvl4pPr indent="0" marL="1371600">
              <a:buNone/>
              <a:defRPr sz="2000"/>
            </a:lvl4pPr>
            <a:lvl5pPr indent="0" marL="1828800">
              <a:buNone/>
              <a:defRPr sz="2000"/>
            </a:lvl5pPr>
            <a:lvl6pPr indent="0" marL="2286000">
              <a:buNone/>
              <a:defRPr sz="2000"/>
            </a:lvl6pPr>
            <a:lvl7pPr indent="0" marL="2743200">
              <a:buNone/>
              <a:defRPr sz="2000"/>
            </a:lvl7pPr>
            <a:lvl8pPr indent="0" marL="3200400">
              <a:buNone/>
              <a:defRPr sz="2000"/>
            </a:lvl8pPr>
            <a:lvl9pPr indent="0" marL="365760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1048652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indent="0" marL="0">
              <a:buNone/>
              <a:defRPr sz="1400"/>
            </a:lvl1pPr>
            <a:lvl2pPr indent="0" marL="457200">
              <a:buNone/>
              <a:defRPr sz="1200"/>
            </a:lvl2pPr>
            <a:lvl3pPr indent="0" marL="914400">
              <a:buNone/>
              <a:defRPr sz="1000"/>
            </a:lvl3pPr>
            <a:lvl4pPr indent="0" marL="1371600">
              <a:buNone/>
              <a:defRPr sz="900"/>
            </a:lvl4pPr>
            <a:lvl5pPr indent="0" marL="1828800">
              <a:buNone/>
              <a:defRPr sz="900"/>
            </a:lvl5pPr>
            <a:lvl6pPr indent="0" marL="2286000">
              <a:buNone/>
              <a:defRPr sz="900"/>
            </a:lvl6pPr>
            <a:lvl7pPr indent="0" marL="2743200">
              <a:buNone/>
              <a:defRPr sz="900"/>
            </a:lvl7pPr>
            <a:lvl8pPr indent="0" marL="3200400">
              <a:buNone/>
              <a:defRPr sz="900"/>
            </a:lvl8pPr>
            <a:lvl9pPr indent="0" marL="365760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4865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EF7FDEF1-C582-4E22-9E77-D68326471F28}" type="datetime1">
              <a:rPr lang="en-US" smtClean="0"/>
              <a:t>7/24/2026</a:t>
            </a:fld>
            <a:endParaRPr lang="en-US"/>
          </a:p>
        </p:txBody>
      </p:sp>
      <p:sp>
        <p:nvSpPr>
          <p:cNvPr id="104865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t>KISAN COMPASS — Farm Decision Intelligence • Team FusionX4</a:t>
            </a:r>
          </a:p>
        </p:txBody>
      </p:sp>
      <p:sp>
        <p:nvSpPr>
          <p:cNvPr id="104865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1242169A-B3C7-4FB6-967F-AF95F4EB331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vertTx">
  <p:cSld name="Title and Vertical Text">
    <p:spTree>
      <p:nvGrpSpPr>
        <p:cNvPr id="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6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Click to edit Master title style</a:t>
            </a:r>
          </a:p>
        </p:txBody>
      </p:sp>
      <p:sp>
        <p:nvSpPr>
          <p:cNvPr id="1048657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48658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053C3A68-6922-42D3-8905-ECC2D82A3469}" type="datetime1">
              <a:rPr lang="en-US" smtClean="0"/>
              <a:t>7/24/2026</a:t>
            </a:fld>
            <a:endParaRPr lang="en-US"/>
          </a:p>
        </p:txBody>
      </p:sp>
      <p:sp>
        <p:nvSpPr>
          <p:cNvPr id="1048659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t>KISAN COMPASS — Farm Decision Intelligence • Team FusionX4</a:t>
            </a:r>
          </a:p>
        </p:txBody>
      </p:sp>
      <p:sp>
        <p:nvSpPr>
          <p:cNvPr id="1048660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94FDD027-5576-4F27-AAB6-1D994836EE7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vertTitleAndTx">
  <p:cSld name="Vertical Title and Text">
    <p:spTree>
      <p:nvGrpSpPr>
        <p:cNvPr id="3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5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p>
            <a:r>
              <a:rPr lang="en-US"/>
              <a:t>Click to edit Master title style</a:t>
            </a:r>
          </a:p>
        </p:txBody>
      </p:sp>
      <p:sp>
        <p:nvSpPr>
          <p:cNvPr id="1048646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4864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CB69E9F4-7604-4950-A8B2-8ACDEDB1506E}" type="datetime1">
              <a:rPr lang="en-US" smtClean="0"/>
              <a:t>7/24/2026</a:t>
            </a:fld>
            <a:endParaRPr lang="en-US"/>
          </a:p>
        </p:txBody>
      </p:sp>
      <p:sp>
        <p:nvSpPr>
          <p:cNvPr id="104864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t>KISAN COMPASS — Farm Decision Intelligence • Team FusionX4</a:t>
            </a:r>
          </a:p>
        </p:txBody>
      </p:sp>
      <p:sp>
        <p:nvSpPr>
          <p:cNvPr id="104864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2957CE61-8714-431B-A40A-01B1C5541AB7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/>
          <a:noFill/>
          <a:ln w="9525">
            <a:noFill/>
            <a:miter lim="800000"/>
            <a:headEnd/>
            <a:tailEnd/>
          </a:ln>
        </p:spPr>
        <p:txBody>
          <a:bodyPr anchor="ctr" anchorCtr="0" bIns="45720" compatLnSpc="1" lIns="91440" numCol="1" rIns="91440" tIns="45720" vert="horz" wrap="square">
            <a:prstTxWarp prst="textNoShape"/>
          </a:bodyPr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4857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/>
          <a:noFill/>
          <a:ln w="9525">
            <a:noFill/>
            <a:miter lim="800000"/>
            <a:headEnd/>
            <a:tailEnd/>
          </a:ln>
        </p:spPr>
        <p:txBody>
          <a:bodyPr anchor="t" anchorCtr="0" bIns="45720" compatLnSpc="1" lIns="91440" numCol="1" rIns="91440" tIns="45720" vert="horz" wrap="square">
            <a:prstTxWarp prst="textNoShape"/>
          </a:bodyPr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48578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/>
        </p:spPr>
        <p:txBody>
          <a:bodyPr anchor="ctr" anchorCtr="0" bIns="45720" compatLnSpc="1" lIns="91440" numCol="1" rIns="91440" tIns="45720" vert="horz" wrap="square">
            <a:prstTxWarp prst="textNoShape"/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7/24/2026</a:t>
            </a:fld>
            <a:endParaRPr lang="en-US"/>
          </a:p>
        </p:txBody>
      </p:sp>
      <p:sp>
        <p:nvSpPr>
          <p:cNvPr id="1048579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/>
        </p:spPr>
        <p:txBody>
          <a:bodyPr anchor="ctr" bIns="45720" lIns="91440" rIns="91440" rtlCol="0" tIns="45720" vert="horz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r>
              <a:t>KISAN COMPASS — Farm Decision Intelligence • Team FusionX4</a:t>
            </a:r>
          </a:p>
        </p:txBody>
      </p:sp>
      <p:sp>
        <p:nvSpPr>
          <p:cNvPr id="1048580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/>
        </p:spPr>
        <p:txBody>
          <a:bodyPr anchor="ctr" anchorCtr="0" bIns="45720" compatLnSpc="1" lIns="91440" numCol="1" rIns="91440" tIns="45720" vert="horz" wrap="square">
            <a:prstTxWarp prst="textNoShape"/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tx1="dk1" tx2="dk2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</p:sldLayoutIdLst>
  <p:hf dt="0" ftr="1" hdr="0" sldNum="1"/>
  <p:txStyles>
    <p:titleStyle>
      <a:lvl1pPr algn="ctr" defTabSz="457200" eaLnBrk="0" fontAlgn="base" hangingPunct="0" rtl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3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8636" name="Rectangle 24"/>
          <p:cNvSpPr>
            <a:spLocks noChangeAspect="1" noMove="1" noResize="1" noRot="1" noGrp="1" noAdjustHandles="1" noEditPoints="1" noChangeArrowheads="1" noChangeShapeType="1" noTextEdit="1"/>
          </p:cNvSpPr>
          <p:nvPr/>
        </p:nvSpPr>
        <p:spPr>
          <a:xfrm>
            <a:off x="1524000" y="0"/>
            <a:ext cx="9144000" cy="6858000"/>
          </a:xfrm>
          <a:prstGeom prst="rect"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  <a:endParaRPr lang="en-US"/>
          </a:p>
        </p:txBody>
      </p:sp>
      <p:sp>
        <p:nvSpPr>
          <p:cNvPr id="1048637" name="Freeform: Shape 26"/>
          <p:cNvSpPr>
            <a:spLocks noChangeAspect="1" noMove="1" noResize="1" noRot="1" noGrp="1" noAdjustHandles="1" noEditPoints="1" noChangeArrowheads="1" noChangeShapeType="1" noTextEdit="1"/>
          </p:cNvSpPr>
          <p:nvPr/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rtlCol="0" wrap="square">
            <a:noAutofit/>
          </a:bodyPr>
          <a:p>
            <a:pPr algn="ctr"/>
            <a:endParaRPr lang="en-US"/>
          </a:p>
        </p:txBody>
      </p:sp>
      <p:sp>
        <p:nvSpPr>
          <p:cNvPr id="1048638" name="Subtitle 3"/>
          <p:cNvSpPr>
            <a:spLocks noGrp="1"/>
          </p:cNvSpPr>
          <p:nvPr>
            <p:ph type="subTitle" idx="1"/>
          </p:nvPr>
        </p:nvSpPr>
        <p:spPr>
          <a:xfrm>
            <a:off x="548640" y="1463040"/>
            <a:ext cx="10972800" cy="640080"/>
          </a:xfrm>
        </p:spPr>
        <p:txBody>
          <a:bodyPr/>
          <a:p>
            <a:pPr algn="l"/>
            <a:r>
              <a:rPr sz="2200" b="1">
                <a:solidFill>
                  <a:srgbClr val="1E40AF"/>
                </a:solidFill>
                <a:latin typeface="Arial"/>
              </a:rPr>
              <a:t>Farm Decision Intelligence</a:t>
            </a:r>
            <a:endParaRPr b="1" dirty="0" lang="en-US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48639" name="Title 7"/>
          <p:cNvSpPr>
            <a:spLocks noGrp="1"/>
          </p:cNvSpPr>
          <p:nvPr>
            <p:ph type="ctrTitle"/>
          </p:nvPr>
        </p:nvSpPr>
        <p:spPr>
          <a:xfrm>
            <a:off x="548640" y="365760"/>
            <a:ext cx="10972800" cy="1188720"/>
          </a:xfrm>
        </p:spPr>
        <p:txBody>
          <a:bodyPr/>
          <a:p>
            <a:pPr algn="l"/>
            <a:r>
              <a:rPr sz="4000" b="1">
                <a:solidFill>
                  <a:srgbClr val="0D3B26"/>
                </a:solidFill>
                <a:latin typeface="Arial"/>
              </a:rPr>
              <a:t>KISAN COMPASS</a:t>
            </a:r>
            <a:endParaRPr b="1" dirty="0" sz="4000" lang="en-IN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48640" name="TextBox 9"/>
          <p:cNvSpPr txBox="1"/>
          <p:nvPr/>
        </p:nvSpPr>
        <p:spPr>
          <a:xfrm>
            <a:off x="548640" y="2194560"/>
            <a:ext cx="6217920" cy="4114800"/>
          </a:xfrm>
          <a:prstGeom prst="rect"/>
          <a:noFill/>
        </p:spPr>
        <p:txBody>
          <a:bodyPr rtlCol="0" wrap="square">
            <a:spAutoFit/>
          </a:bodyPr>
          <a:p>
            <a:pPr>
              <a:spcAft>
                <a:spcPts val="1400"/>
              </a:spcAft>
            </a:pPr>
            <a:r>
              <a:rPr sz="1300" b="1">
                <a:solidFill>
                  <a:srgbClr val="D97706"/>
                </a:solidFill>
                <a:latin typeface="Arial"/>
              </a:rPr>
              <a:t>“Not what to think. What’s actually true — and how sure we are.”</a:t>
            </a:r>
            <a:endParaRPr dirty="0" lang="en-US"/>
          </a:p>
          <a:p>
            <a:pPr>
              <a:spcAft>
                <a:spcPts val="1600"/>
              </a:spcAft>
            </a:pPr>
            <a:r>
              <a:rPr sz="1100">
                <a:solidFill>
                  <a:srgbClr val="1E293B"/>
                </a:solidFill>
                <a:latin typeface="Arial"/>
              </a:rPr>
              <a:t>KISAN COMPASS unites real farmer ground truth with crop phenology, Open-Meteo numerical forecasts, AGMARKNET benchmarks, and road logistics to simulate outcomes and guide confident harvest decisions.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0D3B26"/>
                </a:solidFill>
                <a:latin typeface="Arial"/>
              </a:rPr>
              <a:t>TEAM: FusionX4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1E293B"/>
                </a:solidFill>
                <a:latin typeface="Arial"/>
              </a:rPr>
              <a:t>•  Darshil Nigam — Team Leader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E293B"/>
                </a:solidFill>
                <a:latin typeface="Arial"/>
              </a:rPr>
              <a:t>•  Manvi Tripathi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E293B"/>
                </a:solidFill>
                <a:latin typeface="Arial"/>
              </a:rPr>
              <a:t>•  Ritvika Srivastava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E293B"/>
                </a:solidFill>
                <a:latin typeface="Arial"/>
              </a:rPr>
              <a:t>•  Devanshu Gupta</a:t>
            </a:r>
          </a:p>
        </p:txBody>
      </p:sp>
      <p:sp>
        <p:nvSpPr>
          <p:cNvPr id="1048641" name="Rounded Rectangle 1048640"/>
          <p:cNvSpPr/>
          <p:nvPr/>
        </p:nvSpPr>
        <p:spPr>
          <a:xfrm>
            <a:off x="7040880" y="2103120"/>
            <a:ext cx="4572000" cy="4206240"/>
          </a:xfrm>
          <a:prstGeom prst="roundRect">
            <a:avLst/>
          </a:prstGeom>
          <a:solidFill>
            <a:srgbClr val="F0F9F4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 lIns="128016" rIns="128016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0D3B26"/>
                </a:solidFill>
                <a:latin typeface="Arial"/>
              </a:rPr>
              <a:t>THE 5 TRUTH CONTRACTS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0D3B2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1. Real Farm Single Source of Truth: </a:t>
            </a:r>
            <a:r>
              <a:rPr b="0" sz="1050">
                <a:solidFill>
                  <a:srgbClr val="1E293B"/>
                </a:solidFill>
              </a:rPr>
              <a:t>Driven by actual farmer field acreage, crop variety, sowing date, and target yield.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0D3B2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2. Deterministic Decision Engine: </a:t>
            </a:r>
            <a:r>
              <a:rPr b="0" sz="1050">
                <a:solidFill>
                  <a:srgbClr val="1E293B"/>
                </a:solidFill>
              </a:rPr>
              <a:t>Agronomy stage (GDD) and net realization (Price × Qty - Freight) run on pure deterministic math.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0D3B2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3. What-If Simulation Sandbox: </a:t>
            </a:r>
            <a:r>
              <a:rPr b="0" sz="1050">
                <a:solidFill>
                  <a:srgbClr val="1E293B"/>
                </a:solidFill>
              </a:rPr>
              <a:t>Evaluates Sell Now vs Wait vs Sell Part across multiple mandis with uncertainty distributions.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0D3B2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4. Transparent Provenance: </a:t>
            </a:r>
            <a:r>
              <a:rPr b="0" sz="1050">
                <a:solidFill>
                  <a:srgbClr val="1E293B"/>
                </a:solidFill>
              </a:rPr>
              <a:t>Every metric cites source, freshness timestamp, and explicit error bounds (±X%).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0D3B2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5. Farmer Sovereignty: </a:t>
            </a:r>
            <a:r>
              <a:rPr b="0" sz="1050">
                <a:solidFill>
                  <a:srgbClr val="1E293B"/>
                </a:solidFill>
              </a:rPr>
              <a:t>The system recommends with explainable rationale; the farmer always decides.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22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/>
          <a:solidFill>
            <a:srgbClr val="0D3B26"/>
          </a:solidFill>
          <a:ln w="9525">
            <a:noFill/>
            <a:miter lim="800000"/>
            <a:headEnd/>
            <a:tailEnd/>
          </a:ln>
          <a:effectLst>
            <a:outerShdw dir="5400000" dist="23000" rotWithShape="0">
              <a:srgbClr val="808080">
                <a:alpha val="34999"/>
              </a:srgbClr>
            </a:outerShdw>
          </a:effectLst>
        </p:spPr>
        <p:txBody>
          <a:bodyPr anchor="ctr"/>
          <a:p>
            <a:pPr algn="ctr" fontAlgn="auto">
              <a:spcBef>
                <a:spcPts val="0"/>
              </a:spcBef>
              <a:spcAft>
                <a:spcPts val="0"/>
              </a:spcAft>
            </a:pPr>
            <a:endParaRPr dirty="0" lang="en-US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048623" name="Title 1"/>
          <p:cNvSpPr>
            <a:spLocks noGrp="1"/>
          </p:cNvSpPr>
          <p:nvPr>
            <p:ph type="title"/>
          </p:nvPr>
        </p:nvSpPr>
        <p:spPr>
          <a:xfrm>
            <a:off x="1783080" y="201168"/>
            <a:ext cx="9875520" cy="777240"/>
          </a:xfrm>
        </p:spPr>
        <p:txBody>
          <a:bodyPr anchor="ctr" wrap="square" tIns="36576" bIns="36576" lIns="36576"/>
          <a:p>
            <a:pPr algn="l" eaLnBrk="1" hangingPunct="1"/>
            <a:r>
              <a:rPr sz="2050" b="1">
                <a:solidFill>
                  <a:srgbClr val="0D3B26"/>
                </a:solidFill>
                <a:latin typeface="Arial"/>
              </a:rPr>
              <a:t>THE PROBLEM: FRAGMENTED DATA VS REAL FARMER DILEMMAS</a:t>
            </a:r>
          </a:p>
        </p:txBody>
      </p:sp>
      <p:sp>
        <p:nvSpPr>
          <p:cNvPr id="1048625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58400" y="6382512"/>
            <a:ext cx="1645920" cy="411480"/>
          </a:xfrm>
        </p:spPr>
        <p:txBody>
          <a:bodyPr/>
          <a:p>
            <a:pPr algn="r"/>
            <a:r>
              <a:rPr sz="1100" b="1">
                <a:solidFill>
                  <a:srgbClr val="FFFFFF"/>
                </a:solidFill>
                <a:latin typeface="Arial"/>
              </a:rPr>
              <a:t>2 / 9</a:t>
            </a:r>
            <a:endParaRPr b="1" dirty="0" lang="en-US">
              <a:solidFill>
                <a:schemeClr val="bg1"/>
              </a:solidFill>
            </a:endParaRPr>
          </a:p>
        </p:txBody>
      </p:sp>
      <p:sp>
        <p:nvSpPr>
          <p:cNvPr id="1048626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1371600" y="6382512"/>
            <a:ext cx="7772400" cy="411480"/>
          </a:xfrm>
        </p:spPr>
        <p:txBody>
          <a:bodyPr/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KISAN COMPASS — Farm Decision Intelligence  •  Team FusionX4</a:t>
            </a:r>
            <a:endParaRPr dirty="0" lang="en-US">
              <a:solidFill>
                <a:schemeClr val="bg1"/>
              </a:solidFill>
            </a:endParaRPr>
          </a:p>
        </p:txBody>
      </p:sp>
      <p:sp>
        <p:nvSpPr>
          <p:cNvPr id="1048627" name="Oval 9" descr="Your startup LOGO"/>
          <p:cNvSpPr/>
          <p:nvPr/>
        </p:nvSpPr>
        <p:spPr>
          <a:xfrm>
            <a:off x="329184" y="219456"/>
            <a:ext cx="1325880" cy="731520"/>
          </a:xfrm>
          <a:prstGeom prst="ellipse"/>
          <a:solidFill>
            <a:srgbClr val="0D3B26"/>
          </a:solidFill>
          <a:ln>
            <a:solidFill>
              <a:srgbClr val="166534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anchor="ctr" rtlCol="0" wrap="none" lIns="36576" rIns="36576" tIns="36576" bIns="36576"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FusionX4</a:t>
            </a:r>
            <a:endParaRPr dirty="0" lang="en-IN"/>
          </a:p>
        </p:txBody>
      </p:sp>
      <p:sp>
        <p:nvSpPr>
          <p:cNvPr id="1048628" name="Rounded Rectangle 1048627"/>
          <p:cNvSpPr/>
          <p:nvPr/>
        </p:nvSpPr>
        <p:spPr>
          <a:xfrm>
            <a:off x="548640" y="1234440"/>
            <a:ext cx="3520440" cy="48920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 lIns="128016" rIns="128016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0D3B26"/>
                </a:solidFill>
                <a:latin typeface="Arial"/>
              </a:rPr>
              <a:t>Fragmented Siloed Information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0D3B2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Weather Forecasts: </a:t>
            </a:r>
            <a:r>
              <a:rPr b="0" sz="1050">
                <a:solidFill>
                  <a:srgbClr val="1E293B"/>
                </a:solidFill>
              </a:rPr>
              <a:t>Generic district-level rain alerts fail to capture farm-level crop vulnerability.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0D3B2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Mandi Price Boards: </a:t>
            </a:r>
            <a:r>
              <a:rPr b="0" sz="1050">
                <a:solidFill>
                  <a:srgbClr val="1E293B"/>
                </a:solidFill>
              </a:rPr>
              <a:t>Raw market rates ignore haulage cost, toll taxes, and transit spoilage.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0D3B2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Crop Stage &amp; Soil: </a:t>
            </a:r>
            <a:r>
              <a:rPr b="0" sz="1050">
                <a:solidFill>
                  <a:srgbClr val="1E293B"/>
                </a:solidFill>
              </a:rPr>
              <a:t>Moisture and ripening status remain trapped in offline observation.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0D3B2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Logistics Realities: </a:t>
            </a:r>
            <a:r>
              <a:rPr b="0" sz="1050">
                <a:solidFill>
                  <a:srgbClr val="1E293B"/>
                </a:solidFill>
              </a:rPr>
              <a:t>Vehicle hiring costs, road conditions, and unloading wait times are completely disconnected.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0D3B2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The Trap: </a:t>
            </a:r>
            <a:r>
              <a:rPr b="0" sz="1050">
                <a:solidFill>
                  <a:srgbClr val="1E293B"/>
                </a:solidFill>
              </a:rPr>
              <a:t>Farmers are overwhelmed with disconnected notifications but zero actionable decision support.</a:t>
            </a:r>
          </a:p>
        </p:txBody>
      </p:sp>
      <p:sp>
        <p:nvSpPr>
          <p:cNvPr id="1048629" name="Rounded Rectangle 1048628"/>
          <p:cNvSpPr/>
          <p:nvPr/>
        </p:nvSpPr>
        <p:spPr>
          <a:xfrm>
            <a:off x="4343400" y="1234440"/>
            <a:ext cx="3520440" cy="489204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 lIns="128016" rIns="128016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D97706"/>
                </a:solidFill>
                <a:latin typeface="Arial"/>
              </a:rPr>
              <a:t>The Farmer's Unanswered Dilemmas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D9770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Timing Risk: </a:t>
            </a:r>
            <a:r>
              <a:rPr b="0" sz="1050">
                <a:solidFill>
                  <a:srgbClr val="1E293B"/>
                </a:solidFill>
              </a:rPr>
              <a:t>'Should I harvest and sell today at ₹2,150/qtl, or wait 5 days for a potential ₹2,320/qtl?'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D9770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Downside Weather Threat: </a:t>
            </a:r>
            <a:r>
              <a:rPr b="0" sz="1050">
                <a:solidFill>
                  <a:srgbClr val="1E293B"/>
                </a:solidFill>
              </a:rPr>
              <a:t>'If 28mm rain arrives in 4 days, will muddy fields trap my tractor and ruin crop moisture?'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D9770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Mandi Selection: </a:t>
            </a:r>
            <a:r>
              <a:rPr b="0" sz="1050">
                <a:solidFill>
                  <a:srgbClr val="1E293B"/>
                </a:solidFill>
              </a:rPr>
              <a:t>'Mandi A pays ₹50 more per quintal than Mandi B, but is 42km farther. Which yields higher NET cash in hand?'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D9770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Capital Pressure: </a:t>
            </a:r>
            <a:r>
              <a:rPr b="0" sz="1050">
                <a:solidFill>
                  <a:srgbClr val="1E293B"/>
                </a:solidFill>
              </a:rPr>
              <a:t>'I have urgent fertilizer bills due this Friday—can I sell 40% now and hold 60% safely?'</a:t>
            </a:r>
          </a:p>
        </p:txBody>
      </p:sp>
      <p:sp>
        <p:nvSpPr>
          <p:cNvPr id="1048630" name="Rounded Rectangle 1048629"/>
          <p:cNvSpPr/>
          <p:nvPr/>
        </p:nvSpPr>
        <p:spPr>
          <a:xfrm>
            <a:off x="8138160" y="1234440"/>
            <a:ext cx="3520440" cy="4892040"/>
          </a:xfrm>
          <a:prstGeom prst="roundRect">
            <a:avLst/>
          </a:prstGeom>
          <a:solidFill>
            <a:srgbClr val="F0F9F4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 lIns="128016" rIns="128016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0D3B26"/>
                </a:solidFill>
                <a:latin typeface="Arial"/>
              </a:rPr>
              <a:t>The Critical Intelligence Gap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0D3B2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No Single Source of Truth: </a:t>
            </a:r>
            <a:r>
              <a:rPr b="0" sz="1050">
                <a:solidFill>
                  <a:srgbClr val="1E293B"/>
                </a:solidFill>
              </a:rPr>
              <a:t>Existing apps give isolated advisory without knowing the farmer's actual crop cycle or stored stock.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0D3B2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Black-Box Hallucinations: </a:t>
            </a:r>
            <a:r>
              <a:rPr b="0" sz="1050">
                <a:solidFill>
                  <a:srgbClr val="1E293B"/>
                </a:solidFill>
              </a:rPr>
              <a:t>Generic AI chatbots invent fake certainty and dangerous farm advice.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0D3B2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Hidden Net Realization: </a:t>
            </a:r>
            <a:r>
              <a:rPr b="0" sz="1050">
                <a:solidFill>
                  <a:srgbClr val="1E293B"/>
                </a:solidFill>
              </a:rPr>
              <a:t>Farmers suffer distress sales because transport costs and spoilage are never modeled upfront.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0D3B2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What Kisan Compass Solves: </a:t>
            </a:r>
            <a:r>
              <a:rPr b="0" sz="1050">
                <a:solidFill>
                  <a:srgbClr val="1E293B"/>
                </a:solidFill>
              </a:rPr>
              <a:t>Unifies ground truth, context, and economics into a transparent What-If simulation engine.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13" name="Rectangle 9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/>
          <a:solidFill>
            <a:srgbClr val="0D3B26"/>
          </a:solidFill>
          <a:ln w="9525">
            <a:noFill/>
            <a:miter lim="800000"/>
            <a:headEnd/>
            <a:tailEnd/>
          </a:ln>
          <a:effectLst>
            <a:outerShdw dir="5400000" dist="23000" rotWithShape="0">
              <a:srgbClr val="808080">
                <a:alpha val="34999"/>
              </a:srgbClr>
            </a:outerShdw>
          </a:effectLst>
        </p:spPr>
        <p:txBody>
          <a:bodyPr anchor="ctr"/>
          <a:p>
            <a:pPr algn="ctr" fontAlgn="auto">
              <a:spcBef>
                <a:spcPts val="0"/>
              </a:spcBef>
              <a:spcAft>
                <a:spcPts val="0"/>
              </a:spcAft>
            </a:pPr>
            <a:endParaRPr dirty="0" lang="en-US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048614" name="Title 1"/>
          <p:cNvSpPr>
            <a:spLocks noGrp="1"/>
          </p:cNvSpPr>
          <p:nvPr>
            <p:ph type="title"/>
          </p:nvPr>
        </p:nvSpPr>
        <p:spPr>
          <a:xfrm>
            <a:off x="1783080" y="201168"/>
            <a:ext cx="9875520" cy="777240"/>
          </a:xfrm>
        </p:spPr>
        <p:txBody>
          <a:bodyPr wrap="square" tIns="36576" bIns="36576" lIns="36576"/>
          <a:p>
            <a:pPr eaLnBrk="1" hangingPunct="1" algn="l"/>
            <a:r>
              <a:rPr sz="2050" b="1">
                <a:solidFill>
                  <a:srgbClr val="0D3B26"/>
                </a:solidFill>
                <a:latin typeface="Arial"/>
              </a:rPr>
              <a:t>PROPOSED SOLUTION: UNIFIED FARM DECISION INTELLIGENCE</a:t>
            </a:r>
          </a:p>
        </p:txBody>
      </p:sp>
      <p:sp>
        <p:nvSpPr>
          <p:cNvPr id="104861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58400" y="6382512"/>
            <a:ext cx="1645920" cy="411480"/>
          </a:xfrm>
        </p:spPr>
        <p:txBody>
          <a:bodyPr/>
          <a:p>
            <a:pPr algn="r"/>
            <a:r>
              <a:rPr sz="1100" b="1">
                <a:solidFill>
                  <a:srgbClr val="FFFFFF"/>
                </a:solidFill>
                <a:latin typeface="Arial"/>
              </a:rPr>
              <a:t>3 / 9</a:t>
            </a:r>
            <a:endParaRPr b="1" dirty="0" lang="en-US">
              <a:solidFill>
                <a:schemeClr val="bg1"/>
              </a:solidFill>
            </a:endParaRPr>
          </a:p>
        </p:txBody>
      </p:sp>
      <p:sp>
        <p:nvSpPr>
          <p:cNvPr id="104861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1371600" y="6382512"/>
            <a:ext cx="7772400" cy="411480"/>
          </a:xfrm>
        </p:spPr>
        <p:txBody>
          <a:bodyPr/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KISAN COMPASS — Farm Decision Intelligence  •  Team FusionX4</a:t>
            </a:r>
            <a:endParaRPr dirty="0" lang="en-US">
              <a:solidFill>
                <a:schemeClr val="bg1"/>
              </a:solidFill>
            </a:endParaRPr>
          </a:p>
        </p:txBody>
      </p:sp>
      <p:sp>
        <p:nvSpPr>
          <p:cNvPr id="1048618" name="Oval 10" descr="Your startup LOGO"/>
          <p:cNvSpPr/>
          <p:nvPr/>
        </p:nvSpPr>
        <p:spPr>
          <a:xfrm>
            <a:off x="329184" y="219456"/>
            <a:ext cx="1325880" cy="731520"/>
          </a:xfrm>
          <a:prstGeom prst="ellipse"/>
          <a:solidFill>
            <a:srgbClr val="0D3B26"/>
          </a:solidFill>
          <a:ln>
            <a:solidFill>
              <a:srgbClr val="166534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anchor="ctr" rtlCol="0" wrap="none" lIns="36576" rIns="36576" tIns="36576" bIns="36576"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FusionX4</a:t>
            </a:r>
            <a:endParaRPr dirty="0" lang="en-IN"/>
          </a:p>
        </p:txBody>
      </p:sp>
      <p:sp>
        <p:nvSpPr>
          <p:cNvPr id="1048619" name="Rounded Rectangle 1048618"/>
          <p:cNvSpPr/>
          <p:nvPr/>
        </p:nvSpPr>
        <p:spPr>
          <a:xfrm>
            <a:off x="548640" y="1234440"/>
            <a:ext cx="5120640" cy="4892040"/>
          </a:xfrm>
          <a:prstGeom prst="roundRect">
            <a:avLst/>
          </a:prstGeom>
          <a:solidFill>
            <a:srgbClr val="F0F9F4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 lIns="128016" rIns="128016"/>
          <a:lstStyle/>
          <a:p>
            <a:pPr algn="l">
              <a:spcAft>
                <a:spcPts val="500"/>
              </a:spcAft>
            </a:pPr>
            <a:r>
              <a:rPr sz="1350" b="1">
                <a:solidFill>
                  <a:srgbClr val="0D3B26"/>
                </a:solidFill>
                <a:latin typeface="Arial"/>
              </a:rPr>
              <a:t>The Persistent Farm Digital Twin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0D3B2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Single Source of Truth: </a:t>
            </a:r>
            <a:r>
              <a:rPr b="0" sz="1050">
                <a:solidFill>
                  <a:srgbClr val="1E293B"/>
                </a:solidFill>
              </a:rPr>
              <a:t>Persistent profile anchoring real field GPS, acreage (2.5 - 15 Acres), crop variety (Sugarcane HD-2967), sowing date, and available quantity (25 Quintals).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0D3B2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Multi-Source Real-World APIs &amp; Models: </a:t>
            </a:r>
            <a:r>
              <a:rPr b="0" sz="1050">
                <a:solidFill>
                  <a:srgbClr val="1E293B"/>
                </a:solidFill>
              </a:rPr>
              <a:t>Live numerical weather forecasts (Open-Meteo), benchmark mandi prices (AGMARKNET modal rates), and geodesic road freight estimation (1.25x rural detour).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0D3B2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Deterministic Agronomy &amp; Economics: </a:t>
            </a:r>
            <a:r>
              <a:rPr b="0" sz="1050">
                <a:solidFill>
                  <a:srgbClr val="1E293B"/>
                </a:solidFill>
              </a:rPr>
              <a:t>Growing Degree Days (GDD) crop maturity, moisture risk, and true freight costs modeled without hallucination.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0D3B2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Human-in-the-Loop Sovereign Control: </a:t>
            </a:r>
            <a:r>
              <a:rPr b="0" sz="1050">
                <a:solidFill>
                  <a:srgbClr val="1E293B"/>
                </a:solidFill>
              </a:rPr>
              <a:t>'The system recommends with transparent evidence. The farmer makes the final decision.'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0D3B2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Closed-Loop Evolution: </a:t>
            </a:r>
            <a:r>
              <a:rPr b="0" sz="1050">
                <a:solidFill>
                  <a:srgbClr val="1E293B"/>
                </a:solidFill>
              </a:rPr>
              <a:t>Every decision is recorded into decision memory to calibrate future advice against actual harvest outcomes.</a:t>
            </a:r>
          </a:p>
        </p:txBody>
      </p:sp>
      <p:sp>
        <p:nvSpPr>
          <p:cNvPr id="1048620" name="Rounded Rectangle 1048619"/>
          <p:cNvSpPr/>
          <p:nvPr/>
        </p:nvSpPr>
        <p:spPr>
          <a:xfrm>
            <a:off x="5943600" y="1234440"/>
            <a:ext cx="5669280" cy="489204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 lIns="128016" rIns="128016"/>
          <a:lstStyle/>
          <a:p>
            <a:pPr algn="l">
              <a:spcAft>
                <a:spcPts val="500"/>
              </a:spcAft>
            </a:pPr>
            <a:r>
              <a:rPr sz="1350" b="1">
                <a:solidFill>
                  <a:srgbClr val="1E40AF"/>
                </a:solidFill>
                <a:latin typeface="Arial"/>
              </a:rPr>
              <a:t>10 KEY PLATFORM FEATURES (CAPABILITY MATRIX)</a:t>
            </a:r>
          </a:p>
          <a:p>
            <a:pPr>
              <a:spcAft>
                <a:spcPts val="350"/>
              </a:spcAft>
            </a:pPr>
            <a:r>
              <a:rPr b="1" sz="980">
                <a:solidFill>
                  <a:srgbClr val="1E40AF"/>
                </a:solidFill>
              </a:rPr>
              <a:t>• </a:t>
            </a:r>
            <a:r>
              <a:rPr b="1" sz="980">
                <a:solidFill>
                  <a:srgbClr val="1E293B"/>
                </a:solidFill>
              </a:rPr>
              <a:t>1. FARM DIGITAL STATE: </a:t>
            </a:r>
            <a:r>
              <a:rPr b="0" sz="980">
                <a:solidFill>
                  <a:srgbClr val="1E293B"/>
                </a:solidFill>
              </a:rPr>
              <a:t>Persistent database storing farmer profile, field boundaries, soil class, and verified acreage.</a:t>
            </a:r>
          </a:p>
          <a:p>
            <a:pPr>
              <a:spcAft>
                <a:spcPts val="350"/>
              </a:spcAft>
            </a:pPr>
            <a:r>
              <a:rPr b="1" sz="980">
                <a:solidFill>
                  <a:srgbClr val="1E40AF"/>
                </a:solidFill>
              </a:rPr>
              <a:t>• </a:t>
            </a:r>
            <a:r>
              <a:rPr b="1" sz="980">
                <a:solidFill>
                  <a:srgbClr val="1E293B"/>
                </a:solidFill>
              </a:rPr>
              <a:t>2. CROP AGRONOMY: </a:t>
            </a:r>
            <a:r>
              <a:rPr b="0" sz="980">
                <a:solidFill>
                  <a:srgbClr val="1E293B"/>
                </a:solidFill>
              </a:rPr>
              <a:t>Thermal time / GDD phenology tracking growth stages from vegetative to harvest readiness.</a:t>
            </a:r>
          </a:p>
          <a:p>
            <a:pPr>
              <a:spcAft>
                <a:spcPts val="350"/>
              </a:spcAft>
            </a:pPr>
            <a:r>
              <a:rPr b="1" sz="980">
                <a:solidFill>
                  <a:srgbClr val="1E40AF"/>
                </a:solidFill>
              </a:rPr>
              <a:t>• </a:t>
            </a:r>
            <a:r>
              <a:rPr b="1" sz="980">
                <a:solidFill>
                  <a:srgbClr val="1E293B"/>
                </a:solidFill>
              </a:rPr>
              <a:t>3. WEATHER INTELLIGENCE: </a:t>
            </a:r>
            <a:r>
              <a:rPr b="0" sz="980">
                <a:solidFill>
                  <a:srgbClr val="1E293B"/>
                </a:solidFill>
              </a:rPr>
              <a:t>7-day numerical forecasts with rain probability, wind speed, and soil moisture trends.</a:t>
            </a:r>
          </a:p>
          <a:p>
            <a:pPr>
              <a:spcAft>
                <a:spcPts val="350"/>
              </a:spcAft>
            </a:pPr>
            <a:r>
              <a:rPr b="1" sz="980">
                <a:solidFill>
                  <a:srgbClr val="1E40AF"/>
                </a:solidFill>
              </a:rPr>
              <a:t>• </a:t>
            </a:r>
            <a:r>
              <a:rPr b="1" sz="980">
                <a:solidFill>
                  <a:srgbClr val="1E293B"/>
                </a:solidFill>
              </a:rPr>
              <a:t>4. MARKET INTELLIGENCE: </a:t>
            </a:r>
            <a:r>
              <a:rPr b="0" sz="980">
                <a:solidFill>
                  <a:srgbClr val="1E293B"/>
                </a:solidFill>
              </a:rPr>
              <a:t>Official AGMARKNET mandi modal prices, arrival volumes, and 30-day historical trends.</a:t>
            </a:r>
          </a:p>
          <a:p>
            <a:pPr>
              <a:spcAft>
                <a:spcPts val="350"/>
              </a:spcAft>
            </a:pPr>
            <a:r>
              <a:rPr b="1" sz="980">
                <a:solidFill>
                  <a:srgbClr val="1E40AF"/>
                </a:solidFill>
              </a:rPr>
              <a:t>• </a:t>
            </a:r>
            <a:r>
              <a:rPr b="1" sz="980">
                <a:solidFill>
                  <a:srgbClr val="1E293B"/>
                </a:solidFill>
              </a:rPr>
              <a:t>5. NET REALIZATION: </a:t>
            </a:r>
            <a:r>
              <a:rPr b="0" sz="980">
                <a:solidFill>
                  <a:srgbClr val="1E293B"/>
                </a:solidFill>
              </a:rPr>
              <a:t>Real take-home profit computed dynamically (Modal Rate × Qty - Road Freight - Mandi Cess).</a:t>
            </a:r>
          </a:p>
          <a:p>
            <a:pPr>
              <a:spcAft>
                <a:spcPts val="350"/>
              </a:spcAft>
            </a:pPr>
            <a:r>
              <a:rPr b="1" sz="980">
                <a:solidFill>
                  <a:srgbClr val="1E40AF"/>
                </a:solidFill>
              </a:rPr>
              <a:t>• </a:t>
            </a:r>
            <a:r>
              <a:rPr b="1" sz="980">
                <a:solidFill>
                  <a:srgbClr val="1E293B"/>
                </a:solidFill>
              </a:rPr>
              <a:t>6. WHAT-IF SIMULATION: </a:t>
            </a:r>
            <a:r>
              <a:rPr b="0" sz="980">
                <a:solidFill>
                  <a:srgbClr val="1E293B"/>
                </a:solidFill>
              </a:rPr>
              <a:t>Sandbox evaluating Sell Now vs Wait vs Sell Part across multiple mandis with risk bounds.</a:t>
            </a:r>
          </a:p>
          <a:p>
            <a:pPr>
              <a:spcAft>
                <a:spcPts val="350"/>
              </a:spcAft>
            </a:pPr>
            <a:r>
              <a:rPr b="1" sz="980">
                <a:solidFill>
                  <a:srgbClr val="1E40AF"/>
                </a:solidFill>
              </a:rPr>
              <a:t>• </a:t>
            </a:r>
            <a:r>
              <a:rPr b="1" sz="980">
                <a:solidFill>
                  <a:srgbClr val="1E293B"/>
                </a:solidFill>
              </a:rPr>
              <a:t>7. DECISION EXPLANATION: </a:t>
            </a:r>
            <a:r>
              <a:rPr b="0" sz="980">
                <a:solidFill>
                  <a:srgbClr val="1E293B"/>
                </a:solidFill>
              </a:rPr>
              <a:t>AI reasoning strictly confined to explaining verified numbers with cited evidence.</a:t>
            </a:r>
          </a:p>
          <a:p>
            <a:pPr>
              <a:spcAft>
                <a:spcPts val="350"/>
              </a:spcAft>
            </a:pPr>
            <a:r>
              <a:rPr b="1" sz="980">
                <a:solidFill>
                  <a:srgbClr val="1E40AF"/>
                </a:solidFill>
              </a:rPr>
              <a:t>• </a:t>
            </a:r>
            <a:r>
              <a:rPr b="1" sz="980">
                <a:solidFill>
                  <a:srgbClr val="1E293B"/>
                </a:solidFill>
              </a:rPr>
              <a:t>8. CONTINUOUS FARM WATCH: </a:t>
            </a:r>
            <a:r>
              <a:rPr b="0" sz="980">
                <a:solidFill>
                  <a:srgbClr val="1E293B"/>
                </a:solidFill>
              </a:rPr>
              <a:t>Background monitor evaluating weather shifts and price surges to trigger threshold alerts.</a:t>
            </a:r>
          </a:p>
          <a:p>
            <a:pPr>
              <a:spcAft>
                <a:spcPts val="350"/>
              </a:spcAft>
            </a:pPr>
            <a:r>
              <a:rPr b="1" sz="980">
                <a:solidFill>
                  <a:srgbClr val="1E40AF"/>
                </a:solidFill>
              </a:rPr>
              <a:t>• </a:t>
            </a:r>
            <a:r>
              <a:rPr b="1" sz="980">
                <a:solidFill>
                  <a:srgbClr val="1E293B"/>
                </a:solidFill>
              </a:rPr>
              <a:t>9. EXECUTION INTELLIGENCE: </a:t>
            </a:r>
            <a:r>
              <a:rPr b="0" sz="980">
                <a:solidFill>
                  <a:srgbClr val="1E293B"/>
                </a:solidFill>
              </a:rPr>
              <a:t>Action checklist (labor booking, vehicle hiring, mandi pass, transit moisture protection).</a:t>
            </a:r>
          </a:p>
          <a:p>
            <a:pPr>
              <a:spcAft>
                <a:spcPts val="350"/>
              </a:spcAft>
            </a:pPr>
            <a:r>
              <a:rPr b="1" sz="980">
                <a:solidFill>
                  <a:srgbClr val="1E40AF"/>
                </a:solidFill>
              </a:rPr>
              <a:t>• </a:t>
            </a:r>
            <a:r>
              <a:rPr b="1" sz="980">
                <a:solidFill>
                  <a:srgbClr val="1E293B"/>
                </a:solidFill>
              </a:rPr>
              <a:t>10. DECISION MEMORY: </a:t>
            </a:r>
            <a:r>
              <a:rPr b="0" sz="980">
                <a:solidFill>
                  <a:srgbClr val="1E293B"/>
                </a:solidFill>
              </a:rPr>
              <a:t>Audit trail tracking farmer actions, actual realized prices, and model accuracy calibration.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04" name="Rectangle 9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/>
          <a:solidFill>
            <a:srgbClr val="0D3B26"/>
          </a:solidFill>
          <a:ln w="9525">
            <a:noFill/>
            <a:miter lim="800000"/>
            <a:headEnd/>
            <a:tailEnd/>
          </a:ln>
          <a:effectLst>
            <a:outerShdw dir="5400000" dist="23000" rotWithShape="0">
              <a:srgbClr val="808080">
                <a:alpha val="34999"/>
              </a:srgbClr>
            </a:outerShdw>
          </a:effectLst>
        </p:spPr>
        <p:txBody>
          <a:bodyPr anchor="ctr"/>
          <a:p>
            <a:pPr algn="ctr" defTabSz="457200" eaLnBrk="1" fontAlgn="auto" hangingPunct="1" indent="0" latinLnBrk="0" lvl="0" marL="0" marR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baseline="0" b="0" cap="none" dirty="0" sz="1800" i="0" kern="1200" kumimoji="0" lang="en-US" noProof="0" normalizeH="0" spc="0" strike="noStrike" u="none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048605" name="Title 1"/>
          <p:cNvSpPr>
            <a:spLocks noGrp="1"/>
          </p:cNvSpPr>
          <p:nvPr>
            <p:ph type="title"/>
          </p:nvPr>
        </p:nvSpPr>
        <p:spPr>
          <a:xfrm>
            <a:off x="1783080" y="201168"/>
            <a:ext cx="9875520" cy="777240"/>
          </a:xfrm>
        </p:spPr>
        <p:txBody>
          <a:bodyPr wrap="square" tIns="36576" bIns="36576" lIns="36576"/>
          <a:p>
            <a:pPr eaLnBrk="1" hangingPunct="1" algn="l"/>
            <a:r>
              <a:rPr sz="2050" b="1">
                <a:solidFill>
                  <a:srgbClr val="0D3B26"/>
                </a:solidFill>
                <a:latin typeface="Arial"/>
              </a:rPr>
              <a:t>TECHNICAL APPROACH: SYSTEM ARCHITECTURE &amp; ENGINE SEPARATION</a:t>
            </a:r>
          </a:p>
        </p:txBody>
      </p:sp>
      <p:sp>
        <p:nvSpPr>
          <p:cNvPr id="104860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58400" y="6382512"/>
            <a:ext cx="1645920" cy="411480"/>
          </a:xfrm>
        </p:spPr>
        <p:txBody>
          <a:bodyPr/>
          <a:p>
            <a:pPr algn="r" defTabSz="457200" eaLnBrk="1" fontAlgn="base" hangingPunct="1" indent="0" latinLnBrk="0" lvl="0" marL="0" marR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100" b="1">
                <a:solidFill>
                  <a:srgbClr val="FFFFFF"/>
                </a:solidFill>
                <a:latin typeface="Arial"/>
              </a:rPr>
              <a:t>4 / 9</a:t>
            </a:r>
            <a:endParaRPr baseline="0" b="1" cap="none" dirty="0" sz="1200" i="0" kern="1200" kumimoji="0" lang="en-US" noProof="0" normalizeH="0" spc="0" strike="noStrike" u="none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1048608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1371600" y="6382512"/>
            <a:ext cx="7772400" cy="411480"/>
          </a:xfrm>
        </p:spPr>
        <p:txBody>
          <a:bodyPr/>
          <a:p>
            <a:pPr algn="l" defTabSz="457200" eaLnBrk="1" fontAlgn="auto" hangingPunct="1" indent="0" latinLnBrk="0" lvl="0" marL="0" marR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100" b="0">
                <a:solidFill>
                  <a:srgbClr val="FFFFFF"/>
                </a:solidFill>
                <a:latin typeface="Arial"/>
              </a:rPr>
              <a:t>KISAN COMPASS — Farm Decision Intelligence  •  Team FusionX4</a:t>
            </a:r>
            <a:endParaRPr baseline="0" b="0" cap="none" dirty="0" sz="1200" i="0" kern="1200" kumimoji="0" lang="en-US" noProof="0" normalizeH="0" spc="0" strike="noStrike" u="none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048609" name="Oval 11" descr="Your startup LOGO"/>
          <p:cNvSpPr/>
          <p:nvPr/>
        </p:nvSpPr>
        <p:spPr>
          <a:xfrm>
            <a:off x="329184" y="219456"/>
            <a:ext cx="1325880" cy="731520"/>
          </a:xfrm>
          <a:prstGeom prst="ellipse"/>
          <a:solidFill>
            <a:srgbClr val="0D3B26"/>
          </a:solidFill>
          <a:ln>
            <a:solidFill>
              <a:srgbClr val="166534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anchor="ctr" rtlCol="0" wrap="none" lIns="36576" rIns="36576" tIns="36576" bIns="36576"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FusionX4</a:t>
            </a:r>
            <a:endParaRPr dirty="0" lang="en-IN"/>
          </a:p>
        </p:txBody>
      </p:sp>
      <p:sp>
        <p:nvSpPr>
          <p:cNvPr id="1048610" name="Rounded Rectangle 1048609"/>
          <p:cNvSpPr/>
          <p:nvPr/>
        </p:nvSpPr>
        <p:spPr>
          <a:xfrm>
            <a:off x="548640" y="1234440"/>
            <a:ext cx="11109960" cy="7772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1100" b="1">
                <a:solidFill>
                  <a:srgbClr val="1E40AF"/>
                </a:solidFill>
                <a:latin typeface="Arial"/>
              </a:rPr>
              <a:t>END-TO-END DATA FLOW PIPELINE</a:t>
            </a:r>
          </a:p>
          <a:p>
            <a:pPr algn="ctr"/>
            <a:r>
              <a:rPr sz="850" b="1">
                <a:solidFill>
                  <a:srgbClr val="0D3B26"/>
                </a:solidFill>
                <a:latin typeface="Arial"/>
              </a:rPr>
              <a:t>FARMER DATA  →  PERSISTENT FARM STATE  →  CONTEXT ENGINES  →  DETERMINISTIC ENGINE  →  WHAT-IF SIMULATION  →  EVIDENCE &amp; AI  →  FARMER DECISION  →  EXECUTION &amp; OUTCOME</a:t>
            </a:r>
          </a:p>
        </p:txBody>
      </p:sp>
      <p:sp>
        <p:nvSpPr>
          <p:cNvPr id="1048611" name="Rounded Rectangle 1048610"/>
          <p:cNvSpPr/>
          <p:nvPr/>
        </p:nvSpPr>
        <p:spPr>
          <a:xfrm>
            <a:off x="548640" y="2103120"/>
            <a:ext cx="5440680" cy="3200400"/>
          </a:xfrm>
          <a:prstGeom prst="roundRect">
            <a:avLst/>
          </a:prstGeom>
          <a:solidFill>
            <a:srgbClr val="F0F9F4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 lIns="128016" rIns="128016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0D3B26"/>
                </a:solidFill>
                <a:latin typeface="Arial"/>
              </a:rPr>
              <a:t>DETERMINISTIC ENGINE (Pure Math &amp; Verification)</a:t>
            </a:r>
          </a:p>
          <a:p>
            <a:pPr>
              <a:spcAft>
                <a:spcPts val="350"/>
              </a:spcAft>
            </a:pPr>
            <a:r>
              <a:rPr b="1" sz="980">
                <a:solidFill>
                  <a:srgbClr val="0D3B26"/>
                </a:solidFill>
              </a:rPr>
              <a:t>• </a:t>
            </a:r>
            <a:r>
              <a:rPr b="1" sz="980">
                <a:solidFill>
                  <a:srgbClr val="1E293B"/>
                </a:solidFill>
              </a:rPr>
              <a:t>Role &amp; Scope: </a:t>
            </a:r>
            <a:r>
              <a:rPr b="0" sz="980">
                <a:solidFill>
                  <a:srgbClr val="1E293B"/>
                </a:solidFill>
              </a:rPr>
              <a:t>Handles 100% of calculations, agronomy GDD, economics, logistics formulas, and simulation outcome bounds.</a:t>
            </a:r>
          </a:p>
          <a:p>
            <a:pPr>
              <a:spcAft>
                <a:spcPts val="350"/>
              </a:spcAft>
            </a:pPr>
            <a:r>
              <a:rPr b="1" sz="980">
                <a:solidFill>
                  <a:srgbClr val="0D3B26"/>
                </a:solidFill>
              </a:rPr>
              <a:t>• </a:t>
            </a:r>
            <a:r>
              <a:rPr b="1" sz="980">
                <a:solidFill>
                  <a:srgbClr val="1E293B"/>
                </a:solidFill>
              </a:rPr>
              <a:t>Technology: </a:t>
            </a:r>
            <a:r>
              <a:rPr b="0" sz="980">
                <a:solidFill>
                  <a:srgbClr val="1E293B"/>
                </a:solidFill>
              </a:rPr>
              <a:t>TypeScript &amp; Python calculation core running verifiable mathematical routines.</a:t>
            </a:r>
          </a:p>
          <a:p>
            <a:pPr>
              <a:spcAft>
                <a:spcPts val="350"/>
              </a:spcAft>
            </a:pPr>
            <a:r>
              <a:rPr b="1" sz="980">
                <a:solidFill>
                  <a:srgbClr val="0D3B26"/>
                </a:solidFill>
              </a:rPr>
              <a:t>• </a:t>
            </a:r>
            <a:r>
              <a:rPr b="1" sz="980">
                <a:solidFill>
                  <a:srgbClr val="1E293B"/>
                </a:solidFill>
              </a:rPr>
              <a:t>Input Sources: </a:t>
            </a:r>
            <a:r>
              <a:rPr b="0" sz="980">
                <a:solidFill>
                  <a:srgbClr val="1E293B"/>
                </a:solidFill>
              </a:rPr>
              <a:t>Real farmer field data (acreage, crop variety) + Open-Meteo numerical weather + AGMARKNET mandi modal prices.</a:t>
            </a:r>
          </a:p>
          <a:p>
            <a:pPr>
              <a:spcAft>
                <a:spcPts val="350"/>
              </a:spcAft>
            </a:pPr>
            <a:r>
              <a:rPr b="1" sz="980">
                <a:solidFill>
                  <a:srgbClr val="0D3B26"/>
                </a:solidFill>
              </a:rPr>
              <a:t>• </a:t>
            </a:r>
            <a:r>
              <a:rPr b="1" sz="980">
                <a:solidFill>
                  <a:srgbClr val="1E293B"/>
                </a:solidFill>
              </a:rPr>
              <a:t>Economic Logic: </a:t>
            </a:r>
            <a:r>
              <a:rPr b="0" sz="980">
                <a:solidFill>
                  <a:srgbClr val="1E293B"/>
                </a:solidFill>
              </a:rPr>
              <a:t>Computes Net Cash = (Modal Price × Qty) - (Freight per km × Distance + Unloading Fee).</a:t>
            </a:r>
          </a:p>
          <a:p>
            <a:pPr>
              <a:spcAft>
                <a:spcPts val="350"/>
              </a:spcAft>
            </a:pPr>
            <a:r>
              <a:rPr b="1" sz="980">
                <a:solidFill>
                  <a:srgbClr val="0D3B26"/>
                </a:solidFill>
              </a:rPr>
              <a:t>• </a:t>
            </a:r>
            <a:r>
              <a:rPr b="1" sz="980">
                <a:solidFill>
                  <a:srgbClr val="1E293B"/>
                </a:solidFill>
              </a:rPr>
              <a:t>Zero Hallucination Guarantee: </a:t>
            </a:r>
            <a:r>
              <a:rPr b="0" sz="980">
                <a:solidFill>
                  <a:srgbClr val="1E293B"/>
                </a:solidFill>
              </a:rPr>
              <a:t>No generative AI can tamper with or fabricate financial numbers or crop stages.</a:t>
            </a:r>
          </a:p>
        </p:txBody>
      </p:sp>
      <p:sp>
        <p:nvSpPr>
          <p:cNvPr id="1048612" name="Rounded Rectangle 1048611"/>
          <p:cNvSpPr/>
          <p:nvPr/>
        </p:nvSpPr>
        <p:spPr>
          <a:xfrm>
            <a:off x="6217920" y="2103120"/>
            <a:ext cx="5440680" cy="320040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 lIns="128016" rIns="128016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1E40AF"/>
                </a:solidFill>
                <a:latin typeface="Arial"/>
              </a:rPr>
              <a:t>AI / LLM EXPLANATION LAYER (Strictly Constrained)</a:t>
            </a:r>
          </a:p>
          <a:p>
            <a:pPr>
              <a:spcAft>
                <a:spcPts val="350"/>
              </a:spcAft>
            </a:pPr>
            <a:r>
              <a:rPr b="1" sz="980">
                <a:solidFill>
                  <a:srgbClr val="1E40AF"/>
                </a:solidFill>
              </a:rPr>
              <a:t>• </a:t>
            </a:r>
            <a:r>
              <a:rPr b="1" sz="980">
                <a:solidFill>
                  <a:srgbClr val="1E293B"/>
                </a:solidFill>
              </a:rPr>
              <a:t>Role &amp; Scope: </a:t>
            </a:r>
            <a:r>
              <a:rPr b="0" sz="980">
                <a:solidFill>
                  <a:srgbClr val="1E293B"/>
                </a:solidFill>
              </a:rPr>
              <a:t>Natural-language explanation, farmer conversational interface, and multilingual regional translation.</a:t>
            </a:r>
          </a:p>
          <a:p>
            <a:pPr>
              <a:spcAft>
                <a:spcPts val="350"/>
              </a:spcAft>
            </a:pPr>
            <a:r>
              <a:rPr b="1" sz="980">
                <a:solidFill>
                  <a:srgbClr val="1E40AF"/>
                </a:solidFill>
              </a:rPr>
              <a:t>• </a:t>
            </a:r>
            <a:r>
              <a:rPr b="1" sz="980">
                <a:solidFill>
                  <a:srgbClr val="1E293B"/>
                </a:solidFill>
              </a:rPr>
              <a:t>Strict Evidence Binding: </a:t>
            </a:r>
            <a:r>
              <a:rPr b="0" sz="980">
                <a:solidFill>
                  <a:srgbClr val="1E293B"/>
                </a:solidFill>
              </a:rPr>
              <a:t>Reads structured JSON outputs from the deterministic engine; strictly forbidden from calculating numbers.</a:t>
            </a:r>
          </a:p>
          <a:p>
            <a:pPr>
              <a:spcAft>
                <a:spcPts val="350"/>
              </a:spcAft>
            </a:pPr>
            <a:r>
              <a:rPr b="1" sz="980">
                <a:solidFill>
                  <a:srgbClr val="1E40AF"/>
                </a:solidFill>
              </a:rPr>
              <a:t>• </a:t>
            </a:r>
            <a:r>
              <a:rPr b="1" sz="980">
                <a:solidFill>
                  <a:srgbClr val="1E293B"/>
                </a:solidFill>
              </a:rPr>
              <a:t>Verifiable Rationale: </a:t>
            </a:r>
            <a:r>
              <a:rPr b="0" sz="980">
                <a:solidFill>
                  <a:srgbClr val="1E293B"/>
                </a:solidFill>
              </a:rPr>
              <a:t>Translates trade-offs into plain farmer dialect: 'Wait recommendation is driven by +8% price upside vs 28mm rain on Day 4.'</a:t>
            </a:r>
          </a:p>
          <a:p>
            <a:pPr>
              <a:spcAft>
                <a:spcPts val="350"/>
              </a:spcAft>
            </a:pPr>
            <a:r>
              <a:rPr b="1" sz="980">
                <a:solidFill>
                  <a:srgbClr val="1E40AF"/>
                </a:solidFill>
              </a:rPr>
              <a:t>• </a:t>
            </a:r>
            <a:r>
              <a:rPr b="1" sz="980">
                <a:solidFill>
                  <a:srgbClr val="1E293B"/>
                </a:solidFill>
              </a:rPr>
              <a:t>Transparent Uncertainty: </a:t>
            </a:r>
            <a:r>
              <a:rPr b="0" sz="980">
                <a:solidFill>
                  <a:srgbClr val="1E293B"/>
                </a:solidFill>
              </a:rPr>
              <a:t>Always cites data source, freshness timestamp, and confidence error bounds (±X%).</a:t>
            </a:r>
          </a:p>
          <a:p>
            <a:pPr>
              <a:spcAft>
                <a:spcPts val="350"/>
              </a:spcAft>
            </a:pPr>
            <a:r>
              <a:rPr b="1" sz="980">
                <a:solidFill>
                  <a:srgbClr val="1E40AF"/>
                </a:solidFill>
              </a:rPr>
              <a:t>• </a:t>
            </a:r>
            <a:r>
              <a:rPr b="1" sz="980">
                <a:solidFill>
                  <a:srgbClr val="1E293B"/>
                </a:solidFill>
              </a:rPr>
              <a:t>Human-in-the-Loop: </a:t>
            </a:r>
            <a:r>
              <a:rPr b="0" sz="980">
                <a:solidFill>
                  <a:srgbClr val="1E293B"/>
                </a:solidFill>
              </a:rPr>
              <a:t>Empowers farmer judgment with clear reasoning—never dictates autonomous actions.</a:t>
            </a:r>
          </a:p>
        </p:txBody>
      </p:sp>
      <p:sp>
        <p:nvSpPr>
          <p:cNvPr id="1048613" name="Rounded Rectangle 1048612"/>
          <p:cNvSpPr/>
          <p:nvPr/>
        </p:nvSpPr>
        <p:spPr>
          <a:xfrm>
            <a:off x="548640" y="5394960"/>
            <a:ext cx="11109960" cy="77724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 lIns="109728" rIns="109728"/>
          <a:lstStyle/>
          <a:p>
            <a:pPr algn="l"/>
            <a:r>
              <a:rPr sz="1050" b="1">
                <a:solidFill>
                  <a:srgbClr val="D97706"/>
                </a:solidFill>
                <a:latin typeface="Arial"/>
              </a:rPr>
              <a:t>TECH STACK — REAL-WORLD PRODUCTION ARCHITECTURE</a:t>
            </a:r>
          </a:p>
          <a:p>
            <a:pPr algn="l"/>
            <a:r>
              <a:rPr sz="950" b="1">
                <a:solidFill>
                  <a:srgbClr val="1E293B"/>
                </a:solidFill>
                <a:latin typeface="Arial"/>
              </a:rPr>
              <a:t>React 18 + TypeScript  •  Supabase / PostgreSQL (Row-Level Security)  •  Open-Meteo NWP Forecast API  •  AGMARKNET / DMI Mandi API  •  Deterministic Agronomy &amp; Economic Engine  •  Grounded LLM Explanation Layer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6" name="Rectangle 9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/>
          <a:solidFill>
            <a:srgbClr val="0D3B26"/>
          </a:solidFill>
          <a:ln w="9525">
            <a:noFill/>
            <a:miter lim="800000"/>
            <a:headEnd/>
            <a:tailEnd/>
          </a:ln>
          <a:effectLst>
            <a:outerShdw dir="5400000" dist="23000" rotWithShape="0">
              <a:srgbClr val="808080">
                <a:alpha val="34999"/>
              </a:srgbClr>
            </a:outerShdw>
          </a:effectLst>
        </p:spPr>
        <p:txBody>
          <a:bodyPr anchor="ctr"/>
          <a:p>
            <a:pPr algn="ctr" defTabSz="457200" eaLnBrk="1" fontAlgn="auto" hangingPunct="1" indent="0" latinLnBrk="0" lvl="0" marL="0" marR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baseline="0" b="0" cap="none" dirty="0" sz="1800" i="0" kern="1200" kumimoji="0" lang="en-US" noProof="0" normalizeH="0" spc="0" strike="noStrike" u="none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048587" name="Title 1"/>
          <p:cNvSpPr>
            <a:spLocks noGrp="1"/>
          </p:cNvSpPr>
          <p:nvPr>
            <p:ph type="title"/>
          </p:nvPr>
        </p:nvSpPr>
        <p:spPr>
          <a:xfrm>
            <a:off x="1783080" y="201168"/>
            <a:ext cx="9875520" cy="777240"/>
          </a:xfrm>
        </p:spPr>
        <p:txBody>
          <a:bodyPr wrap="square" tIns="36576" bIns="36576" lIns="36576"/>
          <a:p>
            <a:pPr eaLnBrk="1" hangingPunct="1" algn="l"/>
            <a:r>
              <a:rPr sz="2050" b="1">
                <a:solidFill>
                  <a:srgbClr val="0D3B26"/>
                </a:solidFill>
                <a:latin typeface="Arial"/>
              </a:rPr>
              <a:t>WHAT-IF SIMULATION: EVALUATING SCENARIO TRADE-OFFS</a:t>
            </a:r>
          </a:p>
        </p:txBody>
      </p:sp>
      <p:sp>
        <p:nvSpPr>
          <p:cNvPr id="1048589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58400" y="6382512"/>
            <a:ext cx="1645920" cy="411480"/>
          </a:xfrm>
        </p:spPr>
        <p:txBody>
          <a:bodyPr/>
          <a:p>
            <a:pPr algn="r" defTabSz="457200" eaLnBrk="1" fontAlgn="base" hangingPunct="1" indent="0" latinLnBrk="0" lvl="0" marL="0" marR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100" b="1">
                <a:solidFill>
                  <a:srgbClr val="FFFFFF"/>
                </a:solidFill>
                <a:latin typeface="Arial"/>
              </a:rPr>
              <a:t>5 / 9</a:t>
            </a:r>
            <a:endParaRPr baseline="0" b="1" cap="none" dirty="0" sz="1200" i="0" kern="1200" kumimoji="0" lang="en-US" noProof="0" normalizeH="0" spc="0" strike="noStrike" u="none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1048590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1371600" y="6382512"/>
            <a:ext cx="7772400" cy="411480"/>
          </a:xfrm>
        </p:spPr>
        <p:txBody>
          <a:bodyPr/>
          <a:p>
            <a:pPr algn="l" defTabSz="457200" eaLnBrk="1" fontAlgn="auto" hangingPunct="1" indent="0" latinLnBrk="0" lvl="0" marL="0" marR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100" b="0">
                <a:solidFill>
                  <a:srgbClr val="FFFFFF"/>
                </a:solidFill>
                <a:latin typeface="Arial"/>
              </a:rPr>
              <a:t>KISAN COMPASS — Farm Decision Intelligence  •  Team FusionX4</a:t>
            </a:r>
            <a:endParaRPr baseline="0" b="0" cap="none" dirty="0" sz="1200" i="0" kern="1200" kumimoji="0" lang="en-US" noProof="0" normalizeH="0" spc="0" strike="noStrike" u="none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048591" name="Oval 11" descr="Your startup LOGO"/>
          <p:cNvSpPr/>
          <p:nvPr/>
        </p:nvSpPr>
        <p:spPr>
          <a:xfrm>
            <a:off x="329184" y="219456"/>
            <a:ext cx="1325880" cy="731520"/>
          </a:xfrm>
          <a:prstGeom prst="ellipse"/>
          <a:solidFill>
            <a:srgbClr val="0D3B26"/>
          </a:solidFill>
          <a:ln>
            <a:solidFill>
              <a:srgbClr val="166534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anchor="ctr" rtlCol="0" wrap="none" lIns="36576" rIns="36576" tIns="36576" bIns="36576"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FusionX4</a:t>
            </a:r>
            <a:endParaRPr dirty="0" lang="en-IN"/>
          </a:p>
        </p:txBody>
      </p:sp>
      <p:sp>
        <p:nvSpPr>
          <p:cNvPr id="1048592" name="Rounded Rectangle 1048591"/>
          <p:cNvSpPr/>
          <p:nvPr/>
        </p:nvSpPr>
        <p:spPr>
          <a:xfrm>
            <a:off x="548640" y="1234440"/>
            <a:ext cx="3520440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 lIns="128016" rIns="128016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0D3B26"/>
                </a:solidFill>
                <a:latin typeface="Arial"/>
              </a:rPr>
              <a:t>SCENARIO A: SELL NOW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0D3B2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Action: </a:t>
            </a:r>
            <a:r>
              <a:rPr b="0" sz="1050">
                <a:solidFill>
                  <a:srgbClr val="1E293B"/>
                </a:solidFill>
              </a:rPr>
              <a:t>Immediate harvest and dispatch to closest regional Mandi.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0D3B2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Gross Rate: </a:t>
            </a:r>
            <a:r>
              <a:rPr b="0" sz="1050">
                <a:solidFill>
                  <a:srgbClr val="1E293B"/>
                </a:solidFill>
              </a:rPr>
              <a:t>₹2,150 / Quintal (Current modal benchmark).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0D3B2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Transport Cost: </a:t>
            </a:r>
            <a:r>
              <a:rPr b="0" sz="1050">
                <a:solidFill>
                  <a:srgbClr val="1E293B"/>
                </a:solidFill>
              </a:rPr>
              <a:t>₹1,800 (18km diesel + vehicle hire).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0D3B2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Net Realization: </a:t>
            </a:r>
            <a:r>
              <a:rPr b="0" sz="1050">
                <a:solidFill>
                  <a:srgbClr val="1E293B"/>
                </a:solidFill>
              </a:rPr>
              <a:t>₹51,950 for 25 Quintals.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0D3B2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Risk Exposure: </a:t>
            </a:r>
            <a:r>
              <a:rPr b="0" sz="1050">
                <a:solidFill>
                  <a:srgbClr val="1E293B"/>
                </a:solidFill>
              </a:rPr>
              <a:t>ZERO weather exposure; immediate working capital.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0D3B2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Uncertainty: </a:t>
            </a:r>
            <a:r>
              <a:rPr b="0" sz="1050">
                <a:solidFill>
                  <a:srgbClr val="1E293B"/>
                </a:solidFill>
              </a:rPr>
              <a:t>±2.5% (Very tight confidence bound).</a:t>
            </a:r>
          </a:p>
        </p:txBody>
      </p:sp>
      <p:sp>
        <p:nvSpPr>
          <p:cNvPr id="1048593" name="Rounded Rectangle 1048592"/>
          <p:cNvSpPr/>
          <p:nvPr/>
        </p:nvSpPr>
        <p:spPr>
          <a:xfrm>
            <a:off x="4343400" y="1234440"/>
            <a:ext cx="3520440" cy="393192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 lIns="128016" rIns="128016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D97706"/>
                </a:solidFill>
                <a:latin typeface="Arial"/>
              </a:rPr>
              <a:t>SCENARIO B: WAIT 5-7 DAYS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D9770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Action: </a:t>
            </a:r>
            <a:r>
              <a:rPr b="0" sz="1050">
                <a:solidFill>
                  <a:srgbClr val="1E293B"/>
                </a:solidFill>
              </a:rPr>
              <a:t>Delay harvest to capture anticipated festival price rebound.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D9770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Projected Rate: </a:t>
            </a:r>
            <a:r>
              <a:rPr b="0" sz="1050">
                <a:solidFill>
                  <a:srgbClr val="1E293B"/>
                </a:solidFill>
              </a:rPr>
              <a:t>₹2,320 / Quintal (+7.9% market upside).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D9770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Weather Risk: </a:t>
            </a:r>
            <a:r>
              <a:rPr b="0" sz="1050">
                <a:solidFill>
                  <a:srgbClr val="1E293B"/>
                </a:solidFill>
              </a:rPr>
              <a:t>65% probability of 28mm precipitation on Day 4.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D9770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Downside Penalty: </a:t>
            </a:r>
            <a:r>
              <a:rPr b="0" sz="1050">
                <a:solidFill>
                  <a:srgbClr val="1E293B"/>
                </a:solidFill>
              </a:rPr>
              <a:t>Field waterlogging could delay cutting by 4 days, causing ₹3,500 moisture dockage.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D9770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Expected Net: </a:t>
            </a:r>
            <a:r>
              <a:rPr b="0" sz="1050">
                <a:solidFill>
                  <a:srgbClr val="1E293B"/>
                </a:solidFill>
              </a:rPr>
              <a:t>₹54,500 (Range: ₹48,000 – ₹58,000).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D9770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Uncertainty: </a:t>
            </a:r>
            <a:r>
              <a:rPr b="0" sz="1050">
                <a:solidFill>
                  <a:srgbClr val="1E293B"/>
                </a:solidFill>
              </a:rPr>
              <a:t>±11.8% (Wide risk variance).</a:t>
            </a:r>
          </a:p>
        </p:txBody>
      </p:sp>
      <p:sp>
        <p:nvSpPr>
          <p:cNvPr id="1048594" name="Rounded Rectangle 1048593"/>
          <p:cNvSpPr/>
          <p:nvPr/>
        </p:nvSpPr>
        <p:spPr>
          <a:xfrm>
            <a:off x="8138160" y="1234440"/>
            <a:ext cx="3520440" cy="3931920"/>
          </a:xfrm>
          <a:prstGeom prst="roundRect">
            <a:avLst/>
          </a:prstGeom>
          <a:solidFill>
            <a:srgbClr val="F0F9F4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 lIns="128016" rIns="128016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0D3B26"/>
                </a:solidFill>
                <a:latin typeface="Arial"/>
              </a:rPr>
              <a:t>SCENARIO C: SELL PARTIALLY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0D3B2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Action: </a:t>
            </a:r>
            <a:r>
              <a:rPr b="0" sz="1050">
                <a:solidFill>
                  <a:srgbClr val="1E293B"/>
                </a:solidFill>
              </a:rPr>
              <a:t>Staggered hedge — liquidate 60% immediately, hold 40%.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0D3B2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Immediate Cashflow: </a:t>
            </a:r>
            <a:r>
              <a:rPr b="0" sz="1050">
                <a:solidFill>
                  <a:srgbClr val="1E293B"/>
                </a:solidFill>
              </a:rPr>
              <a:t>₹31,170 secured for immediate input loan repayment.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0D3B2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Upside Participation: </a:t>
            </a:r>
            <a:r>
              <a:rPr b="0" sz="1050">
                <a:solidFill>
                  <a:srgbClr val="1E293B"/>
                </a:solidFill>
              </a:rPr>
              <a:t>40% volume retains exposure to potential price surge.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0D3B2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Downside Buffer: </a:t>
            </a:r>
            <a:r>
              <a:rPr b="0" sz="1050">
                <a:solidFill>
                  <a:srgbClr val="1E293B"/>
                </a:solidFill>
              </a:rPr>
              <a:t>Rain damage risk halved on held stock.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0D3B2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Expected Net: </a:t>
            </a:r>
            <a:r>
              <a:rPr b="0" sz="1050">
                <a:solidFill>
                  <a:srgbClr val="1E293B"/>
                </a:solidFill>
              </a:rPr>
              <a:t>₹53,400 with bounded worst-case floor.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0D3B2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Uncertainty: </a:t>
            </a:r>
            <a:r>
              <a:rPr b="0" sz="1050">
                <a:solidFill>
                  <a:srgbClr val="1E293B"/>
                </a:solidFill>
              </a:rPr>
              <a:t>±5.2% (Recommended for balanced risk profile).</a:t>
            </a:r>
          </a:p>
        </p:txBody>
      </p:sp>
      <p:sp>
        <p:nvSpPr>
          <p:cNvPr id="1048595" name="Rounded Rectangle 1048594"/>
          <p:cNvSpPr/>
          <p:nvPr/>
        </p:nvSpPr>
        <p:spPr>
          <a:xfrm>
            <a:off x="548640" y="5303520"/>
            <a:ext cx="11109960" cy="86868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E40AF"/>
                </a:solidFill>
                <a:latin typeface="Arial"/>
              </a:rPr>
              <a:t>“We don't pretend to know exactly what the future holds. We compute how the outcome distribution changes under each decision so the farmer can choose with open eyes.”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95" name="Rectangle 9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/>
          <a:solidFill>
            <a:srgbClr val="0D3B26"/>
          </a:solidFill>
          <a:ln w="9525">
            <a:noFill/>
            <a:miter lim="800000"/>
            <a:headEnd/>
            <a:tailEnd/>
          </a:ln>
          <a:effectLst>
            <a:outerShdw dir="5400000" dist="23000" rotWithShape="0">
              <a:srgbClr val="808080">
                <a:alpha val="34999"/>
              </a:srgbClr>
            </a:outerShdw>
          </a:effectLst>
        </p:spPr>
        <p:txBody>
          <a:bodyPr anchor="ctr"/>
          <a:p>
            <a:pPr algn="ctr" defTabSz="457200" eaLnBrk="1" fontAlgn="auto" hangingPunct="1" indent="0" latinLnBrk="0" lvl="0" marL="0" marR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baseline="0" b="0" cap="none" dirty="0" sz="1800" i="0" kern="1200" kumimoji="0" lang="en-US" noProof="0" normalizeH="0" spc="0" strike="noStrike" u="none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048596" name="Title 1"/>
          <p:cNvSpPr>
            <a:spLocks noGrp="1"/>
          </p:cNvSpPr>
          <p:nvPr>
            <p:ph type="title"/>
          </p:nvPr>
        </p:nvSpPr>
        <p:spPr>
          <a:xfrm>
            <a:off x="1783080" y="201168"/>
            <a:ext cx="9875520" cy="777240"/>
          </a:xfrm>
        </p:spPr>
        <p:txBody>
          <a:bodyPr wrap="square" tIns="36576" bIns="36576" lIns="36576"/>
          <a:p>
            <a:pPr eaLnBrk="1" hangingPunct="1" algn="l"/>
            <a:r>
              <a:rPr sz="2050" b="1">
                <a:solidFill>
                  <a:srgbClr val="0D3B26"/>
                </a:solidFill>
                <a:latin typeface="Arial"/>
              </a:rPr>
              <a:t>TRUST, EXPLAINABILITY &amp; GRACEFUL FAILURE HANDLING</a:t>
            </a:r>
          </a:p>
        </p:txBody>
      </p:sp>
      <p:sp>
        <p:nvSpPr>
          <p:cNvPr id="104859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58400" y="6382512"/>
            <a:ext cx="1645920" cy="411480"/>
          </a:xfrm>
        </p:spPr>
        <p:txBody>
          <a:bodyPr/>
          <a:p>
            <a:pPr algn="r" defTabSz="457200" eaLnBrk="1" fontAlgn="base" hangingPunct="1" indent="0" latinLnBrk="0" lvl="0" marL="0" marR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sz="1100" b="1">
                <a:solidFill>
                  <a:srgbClr val="FFFFFF"/>
                </a:solidFill>
                <a:latin typeface="Arial"/>
              </a:rPr>
              <a:t>6 / 9</a:t>
            </a:r>
            <a:endParaRPr baseline="0" b="1" cap="none" dirty="0" sz="1200" i="0" kern="1200" kumimoji="0" lang="en-US" noProof="0" normalizeH="0" spc="0" strike="noStrike" u="none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1048599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1371600" y="6382512"/>
            <a:ext cx="7772400" cy="411480"/>
          </a:xfrm>
        </p:spPr>
        <p:txBody>
          <a:bodyPr/>
          <a:p>
            <a:pPr algn="l" defTabSz="457200" eaLnBrk="1" fontAlgn="auto" hangingPunct="1" indent="0" latinLnBrk="0" lvl="0" marL="0" marR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100" b="0">
                <a:solidFill>
                  <a:srgbClr val="FFFFFF"/>
                </a:solidFill>
                <a:latin typeface="Arial"/>
              </a:rPr>
              <a:t>KISAN COMPASS — Farm Decision Intelligence  •  Team FusionX4</a:t>
            </a:r>
            <a:endParaRPr baseline="0" b="0" cap="none" dirty="0" sz="1200" i="0" kern="1200" kumimoji="0" lang="en-US" noProof="0" normalizeH="0" spc="0" strike="noStrike" u="none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048600" name="Oval 8" descr="Your startup LOGO"/>
          <p:cNvSpPr/>
          <p:nvPr/>
        </p:nvSpPr>
        <p:spPr>
          <a:xfrm>
            <a:off x="329184" y="219456"/>
            <a:ext cx="1325880" cy="731520"/>
          </a:xfrm>
          <a:prstGeom prst="ellipse"/>
          <a:solidFill>
            <a:srgbClr val="0D3B26"/>
          </a:solidFill>
          <a:ln>
            <a:solidFill>
              <a:srgbClr val="166534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anchor="ctr" rtlCol="0" wrap="none" lIns="36576" rIns="36576" tIns="36576" bIns="36576"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FusionX4</a:t>
            </a:r>
            <a:endParaRPr dirty="0" lang="en-IN"/>
          </a:p>
        </p:txBody>
      </p:sp>
      <p:sp>
        <p:nvSpPr>
          <p:cNvPr id="1048601" name="Rounded Rectangle 1048600"/>
          <p:cNvSpPr/>
          <p:nvPr/>
        </p:nvSpPr>
        <p:spPr>
          <a:xfrm>
            <a:off x="548640" y="1234440"/>
            <a:ext cx="5440680" cy="3429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 lIns="128016" rIns="128016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0D3B26"/>
                </a:solidFill>
                <a:latin typeface="Arial"/>
              </a:rPr>
              <a:t>Truthful Terminology &amp; Honest Labeling</a:t>
            </a:r>
          </a:p>
          <a:p>
            <a:pPr>
              <a:spcAft>
                <a:spcPts val="350"/>
              </a:spcAft>
            </a:pPr>
            <a:r>
              <a:rPr b="1" sz="980">
                <a:solidFill>
                  <a:srgbClr val="0D3B26"/>
                </a:solidFill>
              </a:rPr>
              <a:t>• </a:t>
            </a:r>
            <a:r>
              <a:rPr b="1" sz="980">
                <a:solidFill>
                  <a:srgbClr val="1E293B"/>
                </a:solidFill>
              </a:rPr>
              <a:t>Numerical Weather Forecast: </a:t>
            </a:r>
            <a:r>
              <a:rPr b="0" sz="980">
                <a:solidFill>
                  <a:srgbClr val="1E293B"/>
                </a:solidFill>
              </a:rPr>
              <a:t>Clearly labeled 'Open-Meteo 7-day numerical forecast' — NEVER mislabeled as 'live satellite radar'.</a:t>
            </a:r>
          </a:p>
          <a:p>
            <a:pPr>
              <a:spcAft>
                <a:spcPts val="350"/>
              </a:spcAft>
            </a:pPr>
            <a:r>
              <a:rPr b="1" sz="980">
                <a:solidFill>
                  <a:srgbClr val="0D3B26"/>
                </a:solidFill>
              </a:rPr>
              <a:t>• </a:t>
            </a:r>
            <a:r>
              <a:rPr b="1" sz="980">
                <a:solidFill>
                  <a:srgbClr val="1E293B"/>
                </a:solidFill>
              </a:rPr>
              <a:t>Official Market Benchmarks: </a:t>
            </a:r>
            <a:r>
              <a:rPr b="0" sz="980">
                <a:solidFill>
                  <a:srgbClr val="1E293B"/>
                </a:solidFill>
              </a:rPr>
              <a:t>Labeled 'AGMARKNET / DMI benchmark price' — NEVER fabricated as a 'live Wall Street stock ticker'.</a:t>
            </a:r>
          </a:p>
          <a:p>
            <a:pPr>
              <a:spcAft>
                <a:spcPts val="350"/>
              </a:spcAft>
            </a:pPr>
            <a:r>
              <a:rPr b="1" sz="980">
                <a:solidFill>
                  <a:srgbClr val="0D3B26"/>
                </a:solidFill>
              </a:rPr>
              <a:t>• </a:t>
            </a:r>
            <a:r>
              <a:rPr b="1" sz="980">
                <a:solidFill>
                  <a:srgbClr val="1E293B"/>
                </a:solidFill>
              </a:rPr>
              <a:t>Calculated Net Realization: </a:t>
            </a:r>
            <a:r>
              <a:rPr b="0" sz="980">
                <a:solidFill>
                  <a:srgbClr val="1E293B"/>
                </a:solidFill>
              </a:rPr>
              <a:t>Defined as '(Modal Rate × Quantity) - (Freight + Unloading)' — NEVER marketed as 'guaranteed profits'.</a:t>
            </a:r>
          </a:p>
          <a:p>
            <a:pPr>
              <a:spcAft>
                <a:spcPts val="350"/>
              </a:spcAft>
            </a:pPr>
            <a:r>
              <a:rPr b="1" sz="980">
                <a:solidFill>
                  <a:srgbClr val="0D3B26"/>
                </a:solidFill>
              </a:rPr>
              <a:t>• </a:t>
            </a:r>
            <a:r>
              <a:rPr b="1" sz="980">
                <a:solidFill>
                  <a:srgbClr val="1E293B"/>
                </a:solidFill>
              </a:rPr>
              <a:t>Estimated Road Routing: </a:t>
            </a:r>
            <a:r>
              <a:rPr b="0" sz="980">
                <a:solidFill>
                  <a:srgbClr val="1E293B"/>
                </a:solidFill>
              </a:rPr>
              <a:t>Calculated via geodesic Haversine distance with 1.25x rural detour factor — NEVER faked as 'hardware GPS tracker telemetry'.</a:t>
            </a:r>
          </a:p>
          <a:p>
            <a:pPr>
              <a:spcAft>
                <a:spcPts val="350"/>
              </a:spcAft>
            </a:pPr>
            <a:r>
              <a:rPr b="1" sz="980">
                <a:solidFill>
                  <a:srgbClr val="0D3B26"/>
                </a:solidFill>
              </a:rPr>
              <a:t>• </a:t>
            </a:r>
            <a:r>
              <a:rPr b="1" sz="980">
                <a:solidFill>
                  <a:srgbClr val="1E293B"/>
                </a:solidFill>
              </a:rPr>
              <a:t>Agronomy Phenology: </a:t>
            </a:r>
            <a:r>
              <a:rPr b="0" sz="980">
                <a:solidFill>
                  <a:srgbClr val="1E293B"/>
                </a:solidFill>
              </a:rPr>
              <a:t>Derived from Growing Degree Day (GDD) base temperatures — NEVER claimed to be 'mind-reading AI'.</a:t>
            </a:r>
          </a:p>
        </p:txBody>
      </p:sp>
      <p:sp>
        <p:nvSpPr>
          <p:cNvPr id="1048602" name="Rounded Rectangle 1048601"/>
          <p:cNvSpPr/>
          <p:nvPr/>
        </p:nvSpPr>
        <p:spPr>
          <a:xfrm>
            <a:off x="6217920" y="1234440"/>
            <a:ext cx="5440680" cy="3429000"/>
          </a:xfrm>
          <a:prstGeom prst="roundRect">
            <a:avLst/>
          </a:prstGeom>
          <a:solidFill>
            <a:srgbClr val="F0F9F4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 lIns="128016" rIns="128016"/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0D3B26"/>
                </a:solidFill>
                <a:latin typeface="Arial"/>
              </a:rPr>
              <a:t>The Five Strict Truth Contracts</a:t>
            </a:r>
          </a:p>
          <a:p>
            <a:pPr>
              <a:spcAft>
                <a:spcPts val="350"/>
              </a:spcAft>
            </a:pPr>
            <a:r>
              <a:rPr b="1" sz="980">
                <a:solidFill>
                  <a:srgbClr val="0D3B26"/>
                </a:solidFill>
              </a:rPr>
              <a:t>• </a:t>
            </a:r>
            <a:r>
              <a:rPr b="1" sz="980">
                <a:solidFill>
                  <a:srgbClr val="1E293B"/>
                </a:solidFill>
              </a:rPr>
              <a:t>1. Provenance Integrity: </a:t>
            </a:r>
            <a:r>
              <a:rPr b="0" sz="980">
                <a:solidFill>
                  <a:srgbClr val="1E293B"/>
                </a:solidFill>
              </a:rPr>
              <a:t>Every metric exposes its data source, mathematical formula, and fetch timestamp.</a:t>
            </a:r>
          </a:p>
          <a:p>
            <a:pPr>
              <a:spcAft>
                <a:spcPts val="350"/>
              </a:spcAft>
            </a:pPr>
            <a:r>
              <a:rPr b="1" sz="980">
                <a:solidFill>
                  <a:srgbClr val="0D3B26"/>
                </a:solidFill>
              </a:rPr>
              <a:t>• </a:t>
            </a:r>
            <a:r>
              <a:rPr b="1" sz="980">
                <a:solidFill>
                  <a:srgbClr val="1E293B"/>
                </a:solidFill>
              </a:rPr>
              <a:t>2. Transparent Uncertainty: </a:t>
            </a:r>
            <a:r>
              <a:rPr b="0" sz="980">
                <a:solidFill>
                  <a:srgbClr val="1E293B"/>
                </a:solidFill>
              </a:rPr>
              <a:t>Every financial prediction displays an explicit confidence bound (±X%) instead of false certainty.</a:t>
            </a:r>
          </a:p>
          <a:p>
            <a:pPr>
              <a:spcAft>
                <a:spcPts val="350"/>
              </a:spcAft>
            </a:pPr>
            <a:r>
              <a:rPr b="1" sz="980">
                <a:solidFill>
                  <a:srgbClr val="0D3B26"/>
                </a:solidFill>
              </a:rPr>
              <a:t>• </a:t>
            </a:r>
            <a:r>
              <a:rPr b="1" sz="980">
                <a:solidFill>
                  <a:srgbClr val="1E293B"/>
                </a:solidFill>
              </a:rPr>
              <a:t>3. Explainable Rationale: </a:t>
            </a:r>
            <a:r>
              <a:rPr b="0" sz="980">
                <a:solidFill>
                  <a:srgbClr val="1E293B"/>
                </a:solidFill>
              </a:rPr>
              <a:t>AI recommendations cite verified numbers (e.g. 'Rain probability 65% on Oct 2 exceeds 40% threshold').</a:t>
            </a:r>
          </a:p>
          <a:p>
            <a:pPr>
              <a:spcAft>
                <a:spcPts val="350"/>
              </a:spcAft>
            </a:pPr>
            <a:r>
              <a:rPr b="1" sz="980">
                <a:solidFill>
                  <a:srgbClr val="0D3B26"/>
                </a:solidFill>
              </a:rPr>
              <a:t>• </a:t>
            </a:r>
            <a:r>
              <a:rPr b="1" sz="980">
                <a:solidFill>
                  <a:srgbClr val="1E293B"/>
                </a:solidFill>
              </a:rPr>
              <a:t>4. Human Sovereignty: </a:t>
            </a:r>
            <a:r>
              <a:rPr b="0" sz="980">
                <a:solidFill>
                  <a:srgbClr val="1E293B"/>
                </a:solidFill>
              </a:rPr>
              <a:t>Recommendations are advisory; the farmer retains unconstrained freedom to execute or override.</a:t>
            </a:r>
          </a:p>
          <a:p>
            <a:pPr>
              <a:spcAft>
                <a:spcPts val="350"/>
              </a:spcAft>
            </a:pPr>
            <a:r>
              <a:rPr b="1" sz="980">
                <a:solidFill>
                  <a:srgbClr val="0D3B26"/>
                </a:solidFill>
              </a:rPr>
              <a:t>• </a:t>
            </a:r>
            <a:r>
              <a:rPr b="1" sz="980">
                <a:solidFill>
                  <a:srgbClr val="1E293B"/>
                </a:solidFill>
              </a:rPr>
              <a:t>5. Calibration Memory: </a:t>
            </a:r>
            <a:r>
              <a:rPr b="0" sz="980">
                <a:solidFill>
                  <a:srgbClr val="1E293B"/>
                </a:solidFill>
              </a:rPr>
              <a:t>Realized harvest results are audited against predictions to continuously self-calibrate.</a:t>
            </a:r>
          </a:p>
        </p:txBody>
      </p:sp>
      <p:sp>
        <p:nvSpPr>
          <p:cNvPr id="1048603" name="Rounded Rectangle 1048602"/>
          <p:cNvSpPr/>
          <p:nvPr/>
        </p:nvSpPr>
        <p:spPr>
          <a:xfrm>
            <a:off x="548640" y="4800600"/>
            <a:ext cx="11109960" cy="137160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28016" rIns="128016"/>
          <a:lstStyle/>
          <a:p>
            <a:pPr algn="ctr"/>
            <a:r>
              <a:rPr sz="1150" b="1">
                <a:solidFill>
                  <a:srgbClr val="D97706"/>
                </a:solidFill>
                <a:latin typeface="Arial"/>
              </a:rPr>
              <a:t>WHEN DATA FAILS: 3-TIER GRACEFUL FAILURE PROTOCOL</a:t>
            </a:r>
          </a:p>
          <a:p>
            <a:r>
              <a:rPr sz="980">
                <a:solidFill>
                  <a:srgbClr val="1E293B"/>
                </a:solidFill>
                <a:latin typeface="Arial"/>
              </a:rPr>
              <a:t>• API AVAILABLE  →  Live fresh data fetched + highest confidence score (±2.5%).</a:t>
            </a:r>
          </a:p>
          <a:p>
            <a:r>
              <a:rPr sz="980">
                <a:solidFill>
                  <a:srgbClr val="1E293B"/>
                </a:solidFill>
                <a:latin typeface="Arial"/>
              </a:rPr>
              <a:t>• API UNAVAILABLE  →  Fallback to cached / last-known values + prominent freshness warning + reduced confidence score (±15%).</a:t>
            </a:r>
          </a:p>
          <a:p>
            <a:r>
              <a:rPr sz="980">
                <a:solidFill>
                  <a:srgbClr val="1E293B"/>
                </a:solidFill>
                <a:latin typeface="Arial"/>
              </a:rPr>
              <a:t>• NO RELIABLE DATA  →  Explicit fallback prompt requesting farmer input — ZERO hallucinated or fabricated numbers.</a:t>
            </a:r>
          </a:p>
          <a:p>
            <a:pPr>
              <a:spcBef>
                <a:spcPts val="300"/>
              </a:spcBef>
            </a:pPr>
            <a:r>
              <a:rPr sz="1050" b="1">
                <a:solidFill>
                  <a:srgbClr val="0D3B26"/>
                </a:solidFill>
                <a:latin typeface="Arial"/>
              </a:rPr>
              <a:t>“CORE OPERATIONAL MANDATE: Failure lowers confidence — never truthfulness.”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83080" y="201168"/>
            <a:ext cx="9875520" cy="777240"/>
          </a:xfrm>
        </p:spPr>
        <p:txBody>
          <a:bodyPr wrap="square" tIns="36576" bIns="36576" lIns="36576"/>
          <a:lstStyle/>
          <a:p>
            <a:pPr algn="l"/>
            <a:r>
              <a:rPr sz="2050" b="1">
                <a:solidFill>
                  <a:srgbClr val="0D3B26"/>
                </a:solidFill>
                <a:latin typeface="Arial"/>
              </a:rPr>
              <a:t>FEASIBILITY, VIABILITY &amp; MEASURABLE IMPACT</a:t>
            </a:r>
          </a:p>
        </p:txBody>
      </p:sp>
      <p:sp>
        <p:nvSpPr>
          <p:cNvPr id="3" name="Oval 2"/>
          <p:cNvSpPr/>
          <p:nvPr/>
        </p:nvSpPr>
        <p:spPr>
          <a:xfrm>
            <a:off x="329184" y="219456"/>
            <a:ext cx="1325880" cy="731520"/>
          </a:xfrm>
          <a:prstGeom prst="ellipse">
            <a:avLst/>
          </a:prstGeom>
          <a:solidFill>
            <a:srgbClr val="0D3B26"/>
          </a:solidFill>
          <a:ln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36576" bIns="36576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FusionX4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D3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6382512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Arial"/>
              </a:rPr>
              <a:t>KISAN COMPASS — Farm Decision Intelligence  •  Team FusionX4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382512"/>
            <a:ext cx="1645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rial"/>
              </a:rPr>
              <a:t>7 / 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34440"/>
            <a:ext cx="5394960" cy="489204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 lIns="128016" rIns="128016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E40AF"/>
                </a:solidFill>
                <a:latin typeface="Arial"/>
              </a:rPr>
              <a:t>Zero-Hardware Feasibility &amp; Scalability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1E40AF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Zero Field Hardware Needed: </a:t>
            </a:r>
            <a:r>
              <a:rPr b="0" sz="1050">
                <a:solidFill>
                  <a:srgbClr val="1E293B"/>
                </a:solidFill>
              </a:rPr>
              <a:t>Requires no expensive IoT soil probes or drone subscriptions; runs as a lightweight responsive PWA on any smartphone.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1E40AF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Ground Truth Driven: </a:t>
            </a:r>
            <a:r>
              <a:rPr b="0" sz="1050">
                <a:solidFill>
                  <a:srgbClr val="1E293B"/>
                </a:solidFill>
              </a:rPr>
              <a:t>Automatically anchors to the farmer's self-entered field size, crop variety, sowing date, and local village.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1E40AF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Production Cloud Architecture: </a:t>
            </a:r>
            <a:r>
              <a:rPr b="0" sz="1050">
                <a:solidFill>
                  <a:srgbClr val="1E293B"/>
                </a:solidFill>
              </a:rPr>
              <a:t>Built with Vite/React frontend and Supabase PostgreSQL with strict Row-Level Security (RLS) guaranteeing total farmer privacy.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1E40AF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Low-Bandwidth Optimization: </a:t>
            </a:r>
            <a:r>
              <a:rPr b="0" sz="1050">
                <a:solidFill>
                  <a:srgbClr val="1E293B"/>
                </a:solidFill>
              </a:rPr>
              <a:t>Compact JSON payloads (&lt;45KB) ensure ultra-fast load times even on spotty 2G/3G rural networks.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1E40AF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Field Pilot Readiness: </a:t>
            </a:r>
            <a:r>
              <a:rPr b="0" sz="1050">
                <a:solidFill>
                  <a:srgbClr val="1E293B"/>
                </a:solidFill>
              </a:rPr>
              <a:t>Fully tested with real farmer data (Darshil Nigam, Kanpur Nagar, Sugarcane HD-2967, 25 Quintals).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34440"/>
            <a:ext cx="5394960" cy="4892040"/>
          </a:xfrm>
          <a:prstGeom prst="roundRect">
            <a:avLst/>
          </a:prstGeom>
          <a:solidFill>
            <a:srgbClr val="F0F9F4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 lIns="128016" rIns="128016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0D3B26"/>
                </a:solidFill>
                <a:latin typeface="Arial"/>
              </a:rPr>
              <a:t>Measurable Farmer Transformation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0D3B2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Information Parity: </a:t>
            </a:r>
            <a:r>
              <a:rPr b="0" sz="1050">
                <a:solidFill>
                  <a:srgbClr val="1E293B"/>
                </a:solidFill>
              </a:rPr>
              <a:t>Transforms fragmented apps into a single coherent decision cockpit.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0D3B2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Protected Net Income: </a:t>
            </a:r>
            <a:r>
              <a:rPr b="0" sz="1050">
                <a:solidFill>
                  <a:srgbClr val="1E293B"/>
                </a:solidFill>
              </a:rPr>
              <a:t>Eliminates distress sales by accounting for freight costs and transport timing upfront (+12% to +18% net realization).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0D3B2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Mitigated Weather Loss: </a:t>
            </a:r>
            <a:r>
              <a:rPr b="0" sz="1050">
                <a:solidFill>
                  <a:srgbClr val="1E293B"/>
                </a:solidFill>
              </a:rPr>
              <a:t>Saves entire harvests from unseasonal rainfall through proactive 72-hour What-If alerts.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0D3B2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Transparent Trust: </a:t>
            </a:r>
            <a:r>
              <a:rPr b="0" sz="1050">
                <a:solidFill>
                  <a:srgbClr val="1E293B"/>
                </a:solidFill>
              </a:rPr>
              <a:t>Replaces opaque black-box AI with honest uncertainty ranges and verifiable government data sources.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0D3B2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Farmer Self-Reliance: </a:t>
            </a:r>
            <a:r>
              <a:rPr b="0" sz="1050">
                <a:solidFill>
                  <a:srgbClr val="1E293B"/>
                </a:solidFill>
              </a:rPr>
              <a:t>Equips smallholders with institutional-grade decision intelligence.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83080" y="201168"/>
            <a:ext cx="9875520" cy="777240"/>
          </a:xfrm>
        </p:spPr>
        <p:txBody>
          <a:bodyPr wrap="square" tIns="36576" bIns="36576" lIns="36576"/>
          <a:lstStyle/>
          <a:p>
            <a:pPr algn="l"/>
            <a:r>
              <a:rPr sz="2050" b="1">
                <a:solidFill>
                  <a:srgbClr val="0D3B26"/>
                </a:solidFill>
                <a:latin typeface="Arial"/>
              </a:rPr>
              <a:t>INNOVATION &amp; ARCHITECTURAL DIFFERENTIATION</a:t>
            </a:r>
          </a:p>
        </p:txBody>
      </p:sp>
      <p:sp>
        <p:nvSpPr>
          <p:cNvPr id="3" name="Oval 2"/>
          <p:cNvSpPr/>
          <p:nvPr/>
        </p:nvSpPr>
        <p:spPr>
          <a:xfrm>
            <a:off x="329184" y="219456"/>
            <a:ext cx="1325880" cy="731520"/>
          </a:xfrm>
          <a:prstGeom prst="ellipse">
            <a:avLst/>
          </a:prstGeom>
          <a:solidFill>
            <a:srgbClr val="0D3B26"/>
          </a:solidFill>
          <a:ln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36576" bIns="36576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FusionX4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D3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6382512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Arial"/>
              </a:rPr>
              <a:t>KISAN COMPASS — Farm Decision Intelligence  •  Team FusionX4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382512"/>
            <a:ext cx="1645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rial"/>
              </a:rPr>
              <a:t>8 / 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34440"/>
            <a:ext cx="2606040" cy="2240280"/>
          </a:xfrm>
          <a:prstGeom prst="roundRect">
            <a:avLst/>
          </a:prstGeom>
          <a:solidFill>
            <a:srgbClr val="F0F9F4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 lIns="128016" rIns="128016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0D3B26"/>
                </a:solidFill>
                <a:latin typeface="Arial"/>
              </a:rPr>
              <a:t>PERSISTENT FARM STATE</a:t>
            </a:r>
          </a:p>
          <a:p>
            <a:pPr>
              <a:spcAft>
                <a:spcPts val="350"/>
              </a:spcAft>
            </a:pPr>
            <a:r>
              <a:rPr sz="950">
                <a:solidFill>
                  <a:srgbClr val="1E293B"/>
                </a:solidFill>
              </a:rPr>
              <a:t>• Maintains farmer profile, field boundaries, crop stage, and available quantity as one evolving context.</a:t>
            </a:r>
          </a:p>
          <a:p>
            <a:pPr>
              <a:spcAft>
                <a:spcPts val="350"/>
              </a:spcAft>
            </a:pPr>
            <a:r>
              <a:rPr sz="950">
                <a:solidFill>
                  <a:srgbClr val="1E293B"/>
                </a:solidFill>
              </a:rPr>
              <a:t>• Never asks for repeated data; grows with the crop cycle.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234440"/>
            <a:ext cx="2606040" cy="224028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 lIns="128016" rIns="128016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D97706"/>
                </a:solidFill>
                <a:latin typeface="Arial"/>
              </a:rPr>
              <a:t>WHAT-IF SIMULATION</a:t>
            </a:r>
          </a:p>
          <a:p>
            <a:pPr>
              <a:spcAft>
                <a:spcPts val="350"/>
              </a:spcAft>
            </a:pPr>
            <a:r>
              <a:rPr sz="950">
                <a:solidFill>
                  <a:srgbClr val="1E293B"/>
                </a:solidFill>
              </a:rPr>
              <a:t>• Simulates Sell Now vs Wait vs Split with explicit market upside vs rain downside trade-offs.</a:t>
            </a:r>
          </a:p>
          <a:p>
            <a:pPr>
              <a:spcAft>
                <a:spcPts val="350"/>
              </a:spcAft>
            </a:pPr>
            <a:r>
              <a:rPr sz="950">
                <a:solidFill>
                  <a:srgbClr val="1E293B"/>
                </a:solidFill>
              </a:rPr>
              <a:t>• Quantifies uncertainty bounds rather than false certainty.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34440"/>
            <a:ext cx="2606040" cy="224028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 lIns="128016" rIns="128016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E40AF"/>
                </a:solidFill>
                <a:latin typeface="Arial"/>
              </a:rPr>
              <a:t>EVIDENCE-FIRST AI</a:t>
            </a:r>
          </a:p>
          <a:p>
            <a:pPr>
              <a:spcAft>
                <a:spcPts val="350"/>
              </a:spcAft>
            </a:pPr>
            <a:r>
              <a:rPr sz="950">
                <a:solidFill>
                  <a:srgbClr val="1E293B"/>
                </a:solidFill>
              </a:rPr>
              <a:t>• Every number is connected to API origin, mathematical formula, freshness age, and confidence.</a:t>
            </a:r>
          </a:p>
          <a:p>
            <a:pPr>
              <a:spcAft>
                <a:spcPts val="350"/>
              </a:spcAft>
            </a:pPr>
            <a:r>
              <a:rPr sz="950">
                <a:solidFill>
                  <a:srgbClr val="1E293B"/>
                </a:solidFill>
              </a:rPr>
              <a:t>• Zero black-box hallucinations; citable explanations.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52560" y="1234440"/>
            <a:ext cx="2606040" cy="22402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 lIns="128016" rIns="128016"/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0D3B26"/>
                </a:solidFill>
                <a:latin typeface="Arial"/>
              </a:rPr>
              <a:t>HUMAN-IN-THE-LOOP</a:t>
            </a:r>
          </a:p>
          <a:p>
            <a:pPr>
              <a:spcAft>
                <a:spcPts val="350"/>
              </a:spcAft>
            </a:pPr>
            <a:r>
              <a:rPr sz="950">
                <a:solidFill>
                  <a:srgbClr val="1E293B"/>
                </a:solidFill>
              </a:rPr>
              <a:t>• The system calculates and recommends with transparent evidence.</a:t>
            </a:r>
          </a:p>
          <a:p>
            <a:pPr>
              <a:spcAft>
                <a:spcPts val="350"/>
              </a:spcAft>
            </a:pPr>
            <a:r>
              <a:rPr sz="950">
                <a:solidFill>
                  <a:srgbClr val="1E293B"/>
                </a:solidFill>
              </a:rPr>
              <a:t>• The farmer retains 100% executive authority to decide and execute.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11880"/>
            <a:ext cx="5440680" cy="25146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 lIns="128016" rIns="128016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D3B26"/>
                </a:solidFill>
                <a:latin typeface="Arial"/>
              </a:rPr>
              <a:t>Traditional Fragmented Approach (The Silo Problem)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0D3B26"/>
                </a:solidFill>
              </a:rPr>
              <a:t>• </a:t>
            </a:r>
            <a:r>
              <a:rPr b="1" sz="950">
                <a:solidFill>
                  <a:srgbClr val="1E293B"/>
                </a:solidFill>
              </a:rPr>
              <a:t>Fragmented Point Solutions: </a:t>
            </a:r>
            <a:r>
              <a:rPr b="0" sz="950">
                <a:solidFill>
                  <a:srgbClr val="1E293B"/>
                </a:solidFill>
              </a:rPr>
              <a:t>Weather app + Mandi SMS + WhatsApp PDF advisory completely disconnected.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0D3B26"/>
                </a:solidFill>
              </a:rPr>
              <a:t>• </a:t>
            </a:r>
            <a:r>
              <a:rPr b="1" sz="950">
                <a:solidFill>
                  <a:srgbClr val="1E293B"/>
                </a:solidFill>
              </a:rPr>
              <a:t>Stateless &amp; Forgetful: </a:t>
            </a:r>
            <a:r>
              <a:rPr b="0" sz="950">
                <a:solidFill>
                  <a:srgbClr val="1E293B"/>
                </a:solidFill>
              </a:rPr>
              <a:t>Each interaction starts from zero; no memory of field conditions or previous cuts.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0D3B26"/>
                </a:solidFill>
              </a:rPr>
              <a:t>• </a:t>
            </a:r>
            <a:r>
              <a:rPr b="1" sz="950">
                <a:solidFill>
                  <a:srgbClr val="1E293B"/>
                </a:solidFill>
              </a:rPr>
              <a:t>Hidden Freight Costs: </a:t>
            </a:r>
            <a:r>
              <a:rPr b="0" sz="950">
                <a:solidFill>
                  <a:srgbClr val="1E293B"/>
                </a:solidFill>
              </a:rPr>
              <a:t>Unanticipated transport and toll costs trigger distress sales at the mandi gate.</a:t>
            </a:r>
          </a:p>
          <a:p>
            <a:pPr>
              <a:spcAft>
                <a:spcPts val="350"/>
              </a:spcAft>
            </a:pPr>
            <a:r>
              <a:rPr b="1" sz="950">
                <a:solidFill>
                  <a:srgbClr val="0D3B26"/>
                </a:solidFill>
              </a:rPr>
              <a:t>• </a:t>
            </a:r>
            <a:r>
              <a:rPr b="1" sz="950">
                <a:solidFill>
                  <a:srgbClr val="1E293B"/>
                </a:solidFill>
              </a:rPr>
              <a:t>Unchecked Hallucinations: </a:t>
            </a:r>
            <a:r>
              <a:rPr b="0" sz="950">
                <a:solidFill>
                  <a:srgbClr val="1E293B"/>
                </a:solidFill>
              </a:rPr>
              <a:t>Generic AI chatbots invent fake certainty and dangerous agronomy advice.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611880"/>
            <a:ext cx="5440680" cy="2514600"/>
          </a:xfrm>
          <a:prstGeom prst="roundRect">
            <a:avLst/>
          </a:prstGeom>
          <a:solidFill>
            <a:srgbClr val="F0F9F4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 lIns="128016" rIns="128016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D3B26"/>
                </a:solidFill>
                <a:latin typeface="Arial"/>
              </a:rPr>
              <a:t>KISAN COMPASS: Continuous Closed-Loop Intelligence</a:t>
            </a:r>
          </a:p>
          <a:p>
            <a:pPr>
              <a:spcAft>
                <a:spcPts val="350"/>
              </a:spcAft>
            </a:pPr>
            <a:r>
              <a:rPr sz="950">
                <a:solidFill>
                  <a:srgbClr val="1E293B"/>
                </a:solidFill>
              </a:rPr>
              <a:t>• 1. Ground Truth  →  Persistent farm profile &amp; real field boundaries.</a:t>
            </a:r>
          </a:p>
          <a:p>
            <a:pPr>
              <a:spcAft>
                <a:spcPts val="350"/>
              </a:spcAft>
            </a:pPr>
            <a:r>
              <a:rPr sz="950">
                <a:solidFill>
                  <a:srgbClr val="1E293B"/>
                </a:solidFill>
              </a:rPr>
              <a:t>• 2. Context Aggregation  →  Live weather models, mandi benchmarks &amp; road routing.</a:t>
            </a:r>
          </a:p>
          <a:p>
            <a:pPr>
              <a:spcAft>
                <a:spcPts val="350"/>
              </a:spcAft>
            </a:pPr>
            <a:r>
              <a:rPr sz="950">
                <a:solidFill>
                  <a:srgbClr val="1E293B"/>
                </a:solidFill>
              </a:rPr>
              <a:t>• 3. Deterministic Simulation  →  Verified mathematical optimization &amp; risk bounds.</a:t>
            </a:r>
          </a:p>
          <a:p>
            <a:pPr>
              <a:spcAft>
                <a:spcPts val="350"/>
              </a:spcAft>
            </a:pPr>
            <a:r>
              <a:rPr sz="950">
                <a:solidFill>
                  <a:srgbClr val="1E293B"/>
                </a:solidFill>
              </a:rPr>
              <a:t>• 4. Human-in-the-Loop  →  Explainable advisory; farmer retains complete decision authority.</a:t>
            </a:r>
          </a:p>
          <a:p>
            <a:pPr>
              <a:spcAft>
                <a:spcPts val="350"/>
              </a:spcAft>
            </a:pPr>
            <a:r>
              <a:rPr sz="950">
                <a:solidFill>
                  <a:srgbClr val="1E293B"/>
                </a:solidFill>
              </a:rPr>
              <a:t>• 5. Action Execution  →  Logistics checklist (labor, vehicle, mandi token, moisture test).</a:t>
            </a:r>
          </a:p>
          <a:p>
            <a:pPr>
              <a:spcAft>
                <a:spcPts val="350"/>
              </a:spcAft>
            </a:pPr>
            <a:r>
              <a:rPr sz="950">
                <a:solidFill>
                  <a:srgbClr val="1E293B"/>
                </a:solidFill>
              </a:rPr>
              <a:t>• 6. Outcome Calibration  →  Realized harvest prices logged to refine future predictions.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83080" y="201168"/>
            <a:ext cx="9875520" cy="777240"/>
          </a:xfrm>
        </p:spPr>
        <p:txBody>
          <a:bodyPr wrap="square" tIns="36576" bIns="36576" lIns="36576"/>
          <a:lstStyle/>
          <a:p>
            <a:pPr algn="l"/>
            <a:r>
              <a:rPr sz="2050" b="1">
                <a:solidFill>
                  <a:srgbClr val="0D3B26"/>
                </a:solidFill>
                <a:latin typeface="Arial"/>
              </a:rPr>
              <a:t>KISAN COMPASS: FARM DECISION INTELLIGENCE</a:t>
            </a:r>
          </a:p>
        </p:txBody>
      </p:sp>
      <p:sp>
        <p:nvSpPr>
          <p:cNvPr id="3" name="Oval 2"/>
          <p:cNvSpPr/>
          <p:nvPr/>
        </p:nvSpPr>
        <p:spPr>
          <a:xfrm>
            <a:off x="329184" y="219456"/>
            <a:ext cx="1325880" cy="731520"/>
          </a:xfrm>
          <a:prstGeom prst="ellipse">
            <a:avLst/>
          </a:prstGeom>
          <a:solidFill>
            <a:srgbClr val="0D3B26"/>
          </a:solidFill>
          <a:ln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36576" bIns="36576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FusionX4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D3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6382512"/>
            <a:ext cx="7772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Arial"/>
              </a:rPr>
              <a:t>KISAN COMPASS — Farm Decision Intelligence  •  Team FusionX4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382512"/>
            <a:ext cx="1645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rial"/>
              </a:rPr>
              <a:t>9 / 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34440"/>
            <a:ext cx="5943600" cy="4892040"/>
          </a:xfrm>
          <a:prstGeom prst="roundRect">
            <a:avLst/>
          </a:prstGeom>
          <a:solidFill>
            <a:srgbClr val="F0F9F4"/>
          </a:solidFill>
          <a:ln w="1905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 lIns="128016" rIns="128016"/>
          <a:lstStyle/>
          <a:p>
            <a:pPr algn="l">
              <a:spcAft>
                <a:spcPts val="500"/>
              </a:spcAft>
            </a:pPr>
            <a:r>
              <a:rPr sz="1350" b="1">
                <a:solidFill>
                  <a:srgbClr val="0D3B26"/>
                </a:solidFill>
                <a:latin typeface="Arial"/>
              </a:rPr>
              <a:t>Our Product Manifesto</a:t>
            </a:r>
          </a:p>
          <a:p>
            <a:pPr>
              <a:spcAft>
                <a:spcPts val="350"/>
              </a:spcAft>
            </a:pPr>
            <a:r>
              <a:rPr sz="1050">
                <a:solidFill>
                  <a:srgbClr val="1E293B"/>
                </a:solidFill>
              </a:rPr>
              <a:t>• “Not what to think. What’s actually true — and how sure we are.”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0D3B2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Empowering Smallholder Farmers: </a:t>
            </a:r>
            <a:r>
              <a:rPr b="0" sz="1050">
                <a:solidFill>
                  <a:srgbClr val="1E293B"/>
                </a:solidFill>
              </a:rPr>
              <a:t>Indian agriculture doesn't need another generic weather widget or chat bot. It needs decision clarity.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0D3B2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Ground Truth as Anchor: </a:t>
            </a:r>
            <a:r>
              <a:rPr b="0" sz="1050">
                <a:solidFill>
                  <a:srgbClr val="1E293B"/>
                </a:solidFill>
              </a:rPr>
              <a:t>Every calculation begins with what the farmer actually planted and what is currently in the soil.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0D3B2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Truth Over Hype: </a:t>
            </a:r>
            <a:r>
              <a:rPr b="0" sz="1050">
                <a:solidFill>
                  <a:srgbClr val="1E293B"/>
                </a:solidFill>
              </a:rPr>
              <a:t>We never disguise forecasts as certainty, never hallucinate live tickers, and always show confidence bounds.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0D3B2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Farmer in the Driver's Seat: </a:t>
            </a:r>
            <a:r>
              <a:rPr b="0" sz="1050">
                <a:solidFill>
                  <a:srgbClr val="1E293B"/>
                </a:solidFill>
              </a:rPr>
              <a:t>Technology should illuminate trade-offs, not dictate commands.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0D3B26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Tested, Deployed &amp; Audited: </a:t>
            </a:r>
            <a:r>
              <a:rPr b="0" sz="1050">
                <a:solidFill>
                  <a:srgbClr val="1E293B"/>
                </a:solidFill>
              </a:rPr>
              <a:t>Connected to real Supabase database with production RLS security and verified deterministic calculations.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1234440"/>
            <a:ext cx="4846320" cy="489204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 lIns="128016" rIns="128016"/>
          <a:lstStyle/>
          <a:p>
            <a:pPr algn="l">
              <a:spcAft>
                <a:spcPts val="500"/>
              </a:spcAft>
            </a:pPr>
            <a:r>
              <a:rPr sz="1350" b="1">
                <a:solidFill>
                  <a:srgbClr val="1E40AF"/>
                </a:solidFill>
                <a:latin typeface="Arial"/>
              </a:rPr>
              <a:t>TEAM FUSIONX4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1E40AF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Team Leader: </a:t>
            </a:r>
            <a:r>
              <a:rPr b="0" sz="1050">
                <a:solidFill>
                  <a:srgbClr val="1E293B"/>
                </a:solidFill>
              </a:rPr>
              <a:t>Darshil Nigam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1E40AF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Core Member: </a:t>
            </a:r>
            <a:r>
              <a:rPr b="0" sz="1050">
                <a:solidFill>
                  <a:srgbClr val="1E293B"/>
                </a:solidFill>
              </a:rPr>
              <a:t>Manvi Tripathi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1E40AF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Core Member: </a:t>
            </a:r>
            <a:r>
              <a:rPr b="0" sz="1050">
                <a:solidFill>
                  <a:srgbClr val="1E293B"/>
                </a:solidFill>
              </a:rPr>
              <a:t>Ritvika Srivastava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1E40AF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Core Member: </a:t>
            </a:r>
            <a:r>
              <a:rPr b="0" sz="1050">
                <a:solidFill>
                  <a:srgbClr val="1E293B"/>
                </a:solidFill>
              </a:rPr>
              <a:t>Devanshu Gupta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1E40AF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Project Repository: </a:t>
            </a:r>
            <a:r>
              <a:rPr b="0" sz="1050">
                <a:solidFill>
                  <a:srgbClr val="1E293B"/>
                </a:solidFill>
              </a:rPr>
              <a:t>KISAN COMPASS (Farm Decision Intelligence)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1E40AF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Architecture: </a:t>
            </a:r>
            <a:r>
              <a:rPr b="0" sz="1050">
                <a:solidFill>
                  <a:srgbClr val="1E293B"/>
                </a:solidFill>
              </a:rPr>
              <a:t>React 18 • TypeScript • Supabase RLS • Open-Meteo • AGMARKNET • Geodesic Haversine Routing</a:t>
            </a:r>
          </a:p>
          <a:p>
            <a:pPr>
              <a:spcAft>
                <a:spcPts val="350"/>
              </a:spcAft>
            </a:pPr>
            <a:r>
              <a:rPr b="1" sz="1050">
                <a:solidFill>
                  <a:srgbClr val="1E40AF"/>
                </a:solidFill>
              </a:rPr>
              <a:t>• </a:t>
            </a:r>
            <a:r>
              <a:rPr b="1" sz="1050">
                <a:solidFill>
                  <a:srgbClr val="1E293B"/>
                </a:solidFill>
              </a:rPr>
              <a:t>Ready for Demonstration: </a:t>
            </a:r>
            <a:r>
              <a:rPr b="0" sz="1050">
                <a:solidFill>
                  <a:srgbClr val="1E293B"/>
                </a:solidFill>
              </a:rPr>
              <a:t>Live database, live decision engine, and complete judge walkthrough.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lastClr="000000" val="windowText"/>
      </a:dk1>
      <a:lt1>
        <a:sysClr lastClr="FFFFFF" val="window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r="5400000" dist="2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dir="t" rig="threeP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name="Office Theme">
  <a:themeElements>
    <a:clrScheme name="Office">
      <a:dk1>
        <a:sysClr lastClr="000000" val="windowText"/>
      </a:dk1>
      <a:lt1>
        <a:sysClr lastClr="FFFFFF" val="window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r="5400000" dist="2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dir="t" rig="threeP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>
  <Application>Microsoft Office PowerPoint</Application>
  <ScaleCrop>0</ScaleCrop>
  <Company>Crowdfunder, Inc.</Company>
  <LinksUpToDate>0</LinksUpToDate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Investor Pitch Deck Template</dc:title>
  <dc:creator>Crowdfunder</dc:creator>
  <cp:lastModifiedBy>ADMIN</cp:lastModifiedBy>
  <dcterms:created xsi:type="dcterms:W3CDTF">2013-12-12T07:46:50Z</dcterms:created>
  <dcterms:modified xsi:type="dcterms:W3CDTF">2026-08-15T18:47:12Z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a4f95452c15f4c069d48b275c87e5c3f_23</vt:lpwstr>
  </property>
</Properties>
</file>